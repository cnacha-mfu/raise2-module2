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เปิดคาบเร็ว — "สัปดาห์ที่แล้วเราจบกันที่ระบบขึ้น URL จริง วันนี้ผมจะเริ่มด้วยการทำอะไรบางอย่างกับระบบนั้น ที่อาจทำให้หลายคนนอนไม่หลับ" · อย่าเฉลยว่าจะทำอะไร ให้คาไว้ก่อนเข้าช่วงที่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ชี้ทีละบรรทัดพร้อมเวลา · ย้ำว่าวันนี้มีเรื่องเดียว — เป็นครั้งแรกที่ระบบของเราเรียก AI เอง ไม่ใช่เราเรียก AI มาเขียนระบบ · บอกว่าทั้งเช้าจะเห็นสาธิตสดตลอด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ประโยคที่ต้องพูด — "นี่คือประโยคเดียวที่ครอบทั้งวันนี้ วันนี้มันคือกุญแจเรียก AI ที่ยังจำเป็นต้องอยู่ผิดฝั่งไปก่อน เรารู้ตัว เราจำกัดความเสียหายด้วยวงเงิน และเราจะจดไว้ว่าต้องย้าย" · ให้ประโยคค้างบนจอ 3 วินาทีก่อนไปต่อ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เปิดคาบด้วยประโยคเปลี่ยนบทบาท — "หกสัปดาห์ที่ผ่านมา เราใช้ AI สร้างระบบ ตั้งแต่นาทีนี้ ระบบของเราจะเป็นฝ่ายเรียก AI เองเพื่อทำงานให้ผู้ใช้" · บอกว่าวันนี้ทั้งวันมีเรื่องเดียว คือผู้ช่วย AI สองระดับ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บอกก่อนว่าสองแถบนี้ไม่มีอันไหนผิด มันคือคนละบทบาทที่จะอยู่คู่กันต่อจากนี้ · ชี้แถบบนไล่ซ้ายไปขวา — "เราพิมพ์สั่ง Claude Code ได้โค้ดมา อันนี้ทำมาหกสัปดาห์แล้ว" · เลื่อนลงแถบล่าง หยุดที่กล่องเข้มขวาสุด — "ตัวนี้ทำงานตอนที่ผู้ใช้กดปุ่ม โดยที่เราไม่ได้นั่งอยู่ตรงนั้นเลย ระบบเรียกเอง" · ปิดด้วย "สังเกตว่าคนซ้ายสุดของแถบล่างไม่ใช่เรา แต่เป็นผู้ใช้"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หยุด 2 วินาที แล้วพูดว่า "ฟีเจอร์แบบนี้แหละที่ทำให้ระบบของคุณต่างจากแบบฟอร์มธรรมดา และมันคือของส่งมอบของสัปดาห์นี้"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เล่าภาพก่อนเห็นของจริง — "ลองนึกถึงป้าสมศรีที่พิมพ์ว่า แอร์ห้องประชุมมีน้ำหยด แกไม่ต้องรู้ว่านี่คือหมวดแอร์หรือหมวดประปา กดปุ่มเดียวระบบช่วยเลือกให้ แล้วแกยังแก้ได้ถ้าไม่เห็นด้วย" · บอกว่าอีกสิบนาทีจะเห็นของจริงในเดโม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ทวน 30 วินาที ห้ามยืด — ชี้ทีละกล่อง "สั่งสั้น · ให้มันเขียนแผน · เราตรวจ · ค่อยลงมือ" · หยุดที่กล่องเข้ม — "วันนี้จังหวะตรวจแผนสำคัญเป็นพิเศษ เพราะแผนของฟีเจอร์ AI มักขาดของสำคัญสองอย่าง เดี๋ยวเจอกันในเดโม" · ทั้งช่วงนี้ใช้วงจรนี้ตลอด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"OpenRouter อ่านว่า โอ-เพ่น-เร้า-เตอร์ นึกภาพเคาน์เตอร์สั่งอาหารที่มีครัวหลายร้านต่ออยู่ข้างหลัง เราสั่งที่เดียว แล้วเลือกได้ว่าให้ครัวไหนทำ" · เชื่อม Module 1 — "ตอนนั้นเราเรียนว่าโมเดลแต่ละตัวเก่งไม่เท่ากัน ราคาไม่เท่ากัน วันนี้จะได้สลับโมเดลด้วยมือตัวเองแล้วเห็นความต่างจริง"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ประกาศวิธีแจก — "คีย์รายคนจะส่งให้ทางแชทส่วนตัวตอนพักเที่ยง ห้ามโพสต์ในห้องรวมเด็ดขาด" · ย้ำเรื่องวงเงิน — "ทุกใบมีวงเงินจำกัด เพราะฉะนั้นถ้าคีย์หลุด ความเสียหายมีเพดาน แต่เราจะไม่ทำให้มันหลุดตั้งแต่แรก สไลด์ถัดไปคือวิธี"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🎬 เดโมขั้นที่ 5 (3 นาที) — วาง prompt นี้ให้ดูจริง · ย้ำว่า ใช้ได้เพราะเป็นคีย์ของหลักสูตรที่ผมตั้งวงเงินไว้ทุกใบ และจะเพิกถอนทั้งหมดเมื่อจบเดือน · "ห้ามเอาคีย์ส่วนตัวของตัวเองมาใช้เด็ดขาด" · บอกชื่อโมเดลออกเสียงช้า ๆ แล้วให้จดไว้ — ถูกที่สุดในกลุ่มที่ตอบไทยได้ดี · เตือน: คีย์หลุด = แจ้งผู้สอนเพิกถอนทันที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📍 สคริปต์สาธิต: w8-demo-fixit.md → ก้อน B · จบแล้วกลับเข้าสไลด์หน้า 35 · พูดว่า "ก่อนเขียนฟีเจอร์ AI สักบรรทัด ผมจัดการเรื่องกุญแจก่อน เพราะถ้าทำทีหลัง มันจะหลุดขึ้น GitHub ไปแล้ว"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ประโยคที่ต้องพูดทุกครั้งที่แจกคีย์ — "คีย์ที่คุณใส่ในเว็บวันนี้ คนอื่นเปิดดูได้ เรายอมรับได้ในคาบเรียนเพราะผมตั้งวงเงินไว้ให้แล้ว แต่ถ้าเป็นระบบจริง ห้ามทำแบบนี้ — ต้องมีตัวกลางเก็บคีย์ไว้ฝั่งที่ผู้ใช้แตะไม่ได้" · บอกว่าก่อนจบช่วงนี้จะให้ทุกคนเปิดดูคีย์ตัวเองในเว็บจริงด้วยตา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บอกว่าสองแถบนี้คือหลักเดียวกันมองจากคนละด้าน ไม่ใช่ถูกกับผิด · หยุดที่กล่องเข้มแถบล่าง — "คีย์วันนี้อยู่ผิดฝั่ง เรารู้ตัว เราจำกัดความเสียหายด้วยวงเงิน และเราจะจดลง Backlog ว่า Sprint 2 ต้องย้าย" · ปิดด้วยประโยคแกนของวัน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"เราจะไต่สองระดับ ระดับ 1 คือปุ่มเดียวทำงานเดียว ผู้ใช้กด ระบบถาม AI หนึ่งคำถาม เอาคำตอบมาเติมหนึ่งช่อง" · ถามห้องบรรทัดสุดท้ายจริง ๆ ให้พิมพ์ในแชท — ระบบสมาชิก จัดประเภทลูกค้า ระบบร้านซ่อม จัดประเภทงาน ทุกโครงงานมีงานคัดแยกของตัวเอง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ไล่นิ้วซ้ายไปขวา — "กด · ส่ง · ตรวจ · เติม" · หยุดที่กล่องเข้ม — "กล่องนี้คือกล่องที่แยกระบบที่รอดกับระบบที่พัง AI ตอบนอกรายการที่มีจริงได้เสมอ ถ้าเราเอาคำตอบไปบันทึกโดยไม่ตรวจ ฐานข้อมูลเราจะมีหมวดที่ไม่มีอยู่จริง" · กล่องขวาสุด — "เติมพร้อมป้ายบอกผู้ใช้ว่านี่คือข้อเสนอจาก AI"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"สองบรรทัดเท่านี้ครับ เหมือนทุกสัปดาห์" · บอกว่าแผนที่ได้กลับมามักมี 4 ข้อ: เพิ่มปุ่ม · ส่งข้อความให้ AI · รับคำตอบมาใส่ช่อง · บันทึก — ให้ห้องช่วยกันดูในเดโมว่าแผนนี้ขาดอะไร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🎬 เดโมขั้นที่ 6–7 ตรงนี้ (12 นาที) — เรียก AI สำเร็จครั้งแรก แล้วทำปุ่มระดับ 1 ตามวงจร 4 จังหวะ · ตอนแผนมา ถามห้องว่าขาดอะไร รอ 5 วินาที แล้วเฉลยสองข้อนี้ · "ถ้าไม่ส่งรายการไปด้วย AI จะตั้งหมวดใหม่เอง ถ้าไม่ตรวจก่อนบันทึก หมวดที่ไม่มีจริงจะไหลลงฐาน"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"ก้อนข้อความนี้ยาวได้ และเป็นข้อยกเว้น เพราะมันไม่ใช่คำสั่งที่เราพิมพ์คุยกับ Claude มันคือข้อความที่ระบบส่งให้ AI ทุกครั้งที่ผู้ใช้กดปุ่ม กติกากับตัวอย่างต้องครบ" · ข้อสาม — "การให้ตัวอย่างคำตอบ เดือนที่ 1 เราเรียกว่า Few-shot จำได้ไหมครับ" · ในใบงานให้ AI ร่างก้อนนี้แล้วผู้เรียนตรวจ 3 ข้อนี้เอง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🎬 เดโมขั้นที่ 8 ตรงนี้ (6 นาที) — จุดที่ตั้งใจให้พังจุดที่ 2: ลบกติกาการตอบออกจากข้อความที่ส่งให้ AI แล้วให้ห้องเห็น AI ตอบเป็นย่อหน้ายาว และเห็นระบบปฏิเสธคำตอบแทนที่จะพัง · พูดตอนพัง: "เห็นไหมครับ ผมเองก็เจอ — และระบบไม่พัง เพราะชั้นตรวจก่อนบันทึกยังอยู่"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อ่านทีละแถว — "สามข้อนี้คือเส้นแบ่งระหว่างของเล่นกับของจริง และอยู่ในเกณฑ์ตรวจงานสัปดาห์นี้ตรง ๆ" · ข้อ 3 ขยาย: "AI เป็นตัวช่วย ไม่ใช่ทางผ่านบังคับ ถ้า AI ล่มแล้วผู้ใช้ทำงานต่อไม่ได้เลย แปลว่าออกแบบผิด" · ใบงานบ่ายนี้บังคับทดสอบปิดเน็ตจริง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เชื่อม Module 1 เรื่องข้อจำกัดของ AI — "ป้ายนี้คือหน้าที่ตามหลักที่เราเรียนกันตั้งแต่เดือนแรก ไม่ใช่การตกแต่งหน้าจอ" · เล่าตัวอย่าง: ถ้าไม่มีป้าย ผู้ใช้จะเชื่อว่าระบบตัดสินแล้ว และโทษระบบเมื่อผิด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สไลด์ทวนกลางช่วง (ผ่านมา ~45 นาที) — ให้แต่ละคนพิมพ์ 🟢🟡🔴 ในแชทว่าตามทันไหม · ถ้ามี 🔴 เยอะ ให้ทวนเส้นทางปุ่ม AI อีกหนึ่งนาทีก่อนขึ้นระดับ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จับเวลาบนจอ · ทิ้งท้ายว่า "ครึ่งหลังคือผู้ช่วยระดับ 2 ที่อ่านหลายที่แล้วสรุปให้คนอ่านก่อนตัดสินใจ"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เปิดช่วงสั้น ๆ — "ครึ่งแรกผู้ช่วยของเราตอบได้ทีละคำถาม ครึ่งหลังเราจะให้มันทำงานเป็นขั้นแล้วทิ้งบันทึกไว้ให้เราตรวจ"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"ระดับ 1 คือถามหนึ่งคำถามได้หนึ่งคำตอบ ระดับ 2 คือมอบหมายงานหนึ่งชิ้น แล้วผู้ช่วยไปไล่ทำเป็นขั้น ๆ เอง เหมือนต่างกันระหว่างถามทางกับจ้างไกด์" · คำว่า agentic คือคำเดียวกับใน Agentic AI ที่เป็นหัวข้อสัปดาห์นี้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ไล่ทีละกล่อง — "อ่านข้อมูลมากกว่าหนึ่งที่ · ตัดสินใจหรือสรุป · เขียนผลกลับลงฐาน" · หยุดที่กล่องเข้มขวาสุด — "กล่องนี้คือความต่างของมืออาชีพ ผู้ช่วยที่ทำงานหลายขั้นต้องทิ้งบันทึกไว้ว่าอ่านอะไรไปบ้าง ไม่งั้นข้อเสนอของมันคือของลอยมาจากไหนไม่รู้ และไม่มีใครกล้าเชื่อ"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🎬 เดโมขั้นที่ 9 ตรงนี้ (9 นาที) — ทำผู้ช่วยระดับ 2 ให้ดูจริงตามวงจร 4 จังหวะ · เล่าเรื่องก่อน: "ผู้ดูแลเปิดใบแจ้งซ่อมเรื่องแอร์ กดปุ่มเดียว ผู้ช่วยไปเปิดประวัติว่าใครเคยปิดงานแอร์บ้าง แล้วเสนอชื่อพร้อมเหตุผลมาให้ ผู้ดูแลเป็นคนกดยืนยันเอง" · เชื่อม LeaveEasy: "ของใบงานคือสรุปประวัติการลาให้หัวหน้าอ่านก่อนกดอนุมัติ โครงเดียวกันเป๊ะ"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ชี้แถวล่างสุด — "แถวนี้คือเส้นแบ่งจริง ระดับ 2 ต้องตอบได้ว่าไปอ่านอะไรมากี่รายการเมื่อไร" · บอกว่าใน Firestore เราเก็บเป็นช่องเพิ่มในไฟล์ เช่น ข้อเสนอหนึ่งช่อง บันทึกการทำงานอีกหนึ่งช่อง เดี๋ยวเห็นในเดโม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"กติกาสามข้อของระดับ 1 ตามมาที่ระดับ 2 ครบทุกข้อ และเพิ่มอีกหนึ่ง — คนที่กดยืนยันต้องเป็นบทบาทที่มีสิทธิ์ตามกฎเมื่อเช้า" · ชี้ให้เห็นว่าสองเรื่องของวันนี้มาบรรจบกัน: Rules เช้ากันคนไม่มีสิทธิ์ ผู้ช่วย AI สายเสนอให้คนมีสิทธิ์ตัดสิน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🎬 เดโมขั้นที่ 10 ตรงนี้ (4 นาที รวมสไลด์ถัดไป) — สลับโมเดลสำรองแล้วกดปุ่มเดิมให้เห็นผลต่างกัน · เชื่อม Module 1: "ตอนนั้นเรียนเป็นทฤษฎีว่าโมเดลต่างกันให้ผลต่างกัน วันนี้พิสูจน์กับระบบตัวเอง" · ⚠️ ชื่อโมเดลหลักและสำรองประกาศตอน 13:00 — ผู้สอนทดสอบเช้าวันสอนแล้วเท่านั้น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ทำให้ดูจริงบนเว็บ FixIt ที่ deploy แล้ว — "ผมไม่ได้ทำอะไรพลาด นี่คือธรรมชาติของเว็บที่ไม่มีตัวกลาง" · บ่ายนี้ทุกคนต้องเปิดดูคีย์ตัวเองด้วยตา แล้วจดบรรทัด Backlog นี้จริง ๆ — ความรู้ที่เห็นกับตาอยู่ทนกว่าความรู้ที่ถูกบอก · หลังคาบผู้สอนเพิกถอนคีย์ใบที่ใช้สาธิต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อ่านทีละข้อ ให้พิมพ์เลขข้อที่ยังไม่ชัดในแชท · เรื่องที่มักถามตรงนี้คือความต่างระดับ 1 กับ 2 — ตอบสั้น: "ระดับ 1 ถามหนึ่งได้หนึ่ง ระดับ 2 อ่านหลายที่ ตัดสินใจ แล้วทิ้งบันทึกไว้"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เหลือเวลาให้ส่วนนี้อย่างน้อย 8 นาที เพราะเป็นสะพานเข้า Workshop · ถ้าเวลาหาย ให้ตัดการทวนช่วงต้นคาบ ไม่ใช่ตัดตารางเทียบ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อ่านสามบรรทัด แล้วโยงกลับประโยคแกนของวัน — "ของสำคัญอยู่ฝั่งที่ผู้ใช้แตะไม่ได้ คีย์ต้องมีวงเงินเพราะยังอยู่ผิดฝั่ง และข้อเสนอของ AI ต้องรอคนกดยืนยันเสมอ"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ฉายค้าง 1 นาที — "เช้านี้ผมทำกับ FixIt · บ่ายนี้ทุกคนทำ LeaveEasy พร้อมกัน · แล้วช่องขวาสุดคือการบ้าน หัวข้อของตัวเอง"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แถวบนคือระดับ 1 แถวล่างคือระดับ 2 · ปิดด้วยคำถามประจำหลักสูตร — "หัวข้อของคุณ งานคัดแยกคืออะไร และใครในระบบของคุณที่ควรได้ผู้ช่วยสรุปข้อมูลก่อนตัดสินใจ" · ให้พิมพ์คำตอบลงแชทก่อนพักเที่ยง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บอกก่อนว่า "ใบงานวันนี้ออกแบบให้เสร็จใน 2 ชั่วโมง เวลาที่เหลือคือเวลาสำรอง ไม่มีงานต่อยอดให้ทำเพิ่ม" · บอกว่า "บ่ายนี้ทั้งคาบเป็นเรื่องผู้ช่วย AI ล้วน ๆ ส่วนกฎปิดข้อมูลเราทำไปแล้วสัปดาห์ที่แล้ว" · "บ่ายนี้มี 2 ส่วน ส่วน A ต้องเสร็จในคาบ · ส่วน B ยกไปทำต่อในการบ้านได้" · ใบงานอยู่ใน Google Classroom แล้ว ให้เปิดอ่าน "สิ่งที่ต้องมีก่อนเริ่ม" ตอนพักเที่ยง · คีย์ OpenRouter ส่งให้ทางแชทส่วนตัวรายคนตอน 13:00 พร้อมชื่อโมเดลหลักและสำรอง · ประกาศกำหนดส่ง: ใบงาน (LeaveEasy) วาง URL repo ภายในจันทร์ 14 ก.ย. · การบ้าน (หัวข้อตัวเอง) ภายในศุกร์ 18 ก.ย. ย้ำว่าส่ง URL repo ลิงก์เดียวเท่านั้น URL เว็บออนไลน์ให้เขียนไว้บนสุดของ README.md ในrepo และก่อนส่งต้องให้ Claude แสดงรายการไฟล์บน GitHub ให้ดูก่อนว่าไม่มีไฟล์คีย์ปนไป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"ถ้าทำไม่ทัน ให้ถึงจุดที่ 1 เป็นอย่างน้อย" · ย้ำว่าปุ่ม AI ต้องมีป้ายกำกับและต้องไม่ค้างเมื่อเรียกไม่สำเร็จ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อ่านช้า ๆ — "ข้อสองไม่ใช่คำแนะนำ เป็นเกณฑ์ผ่าน Module คนที่ไม่มี commit เลยคือยังไม่ผ่าน" · ข้อสามมีไว้จับว่าเดินเร็วเกินไปหรือเปล่า · วางลิงก์ตารางห้องย่อยในแชทก่อนพักเที่ยง · ย้ำไฟจราจร 🟢🟡🔴 กับการโพสต์ screenshot ทุก Checkpoint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ปิดคาบด้วยคำถามนี้เสมอ · ให้ทุกคนพิมพ์คำตอบสองบรรทัดลงแชทก่อนพักเที่ยง — บรรทัดแรก ใครควรเห็นข้อมูลของใคร · บรรทัดสอง ผู้ช่วย AI ของคุณจะช่วยงานไหน · TA กวาดตาดูว่าใครยังตอบไม่ได้ แล้วจัดคิว Consult ให้เลย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4577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ระบบมีผู้ช่วย AI — Agentic AI 2 ระดับ</a:t>
            </a:r>
          </a:p>
          <a:p>
            <a:pPr>
              <a:spcBef>
                <a:spcPts val="1400"/>
              </a:spcBef>
            </a:pPr>
            <a:r>
              <a:rPr sz="22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ADT-RAISE Batch 2 · Module 2 · สัปดาห์ที่ 8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12 กันยายน 2569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สัปดาห์ที่แล้ว ระบบของคุณออกสู่โลกแล้ว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🌐 มี URL จริงที่คนอื่นเปิดได้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🔑 มีล็อกอิน และกุญแจคลังข้อมูล 1 ข้อ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0256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✍️ เพิ่ม ดู แก้ ลบ ข้อมูลได้ครบ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8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วันนี้ระบบได้ผู้ช่วย AI 2 ระดับ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🤖 ระดับ 1 — ปุ่มเดียว งานเดียว (55 นาที)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🤖 ระดับ 2 — ทำงานเป็นขั้น แล้วทิ้งบันทึกไว้ (70 นาที)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7144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☕ พักหนึ่งครั้งตอน 10:00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8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45775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ของสำคัญต้องอยู่ฝั่งที่ผู้ใช้แตะไม่ได้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8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45775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ช่วงที่ 1 — ผู้ช่วย AI ระดับ 1 ⏱ 55 นาที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8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วันนี้บทบาทของ AI เปลี่ยน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563624"/>
            <a:ext cx="10545775" cy="150876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87552" y="1636776"/>
            <a:ext cx="1021659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9534F"/>
                </a:solidFill>
                <a:latin typeface="Leelawadee UI"/>
                <a:ea typeface="Leelawadee UI"/>
                <a:cs typeface="Leelawadee UI"/>
              </a:rPr>
              <a:t>🕐 ที่ผ่านมา — เราใช้ AI สร้างระบบ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" y="1984248"/>
            <a:ext cx="3088538" cy="996696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เรา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213615" y="2333092"/>
            <a:ext cx="291876" cy="29900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51578" y="1984248"/>
            <a:ext cx="3088538" cy="996696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Claude Code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686201" y="2333092"/>
            <a:ext cx="291876" cy="29900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24164" y="1984248"/>
            <a:ext cx="3088538" cy="996696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โค้ดของระบบ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273552"/>
            <a:ext cx="10545775" cy="150876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87552" y="3346704"/>
            <a:ext cx="1021659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9534F"/>
                </a:solidFill>
                <a:latin typeface="Leelawadee UI"/>
                <a:ea typeface="Leelawadee UI"/>
                <a:cs typeface="Leelawadee UI"/>
              </a:rPr>
              <a:t>🤖 วันนี้ — ระบบเรียก AI เอง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8992" y="3694176"/>
            <a:ext cx="3088538" cy="996696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ผู้ใช้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213615" y="4043020"/>
            <a:ext cx="291876" cy="29900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51578" y="3694176"/>
            <a:ext cx="3088538" cy="996696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ระบบของคุณ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686201" y="4043020"/>
            <a:ext cx="291876" cy="29900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24164" y="3694176"/>
            <a:ext cx="3088538" cy="996696"/>
          </a:xfrm>
          <a:prstGeom prst="roundRect">
            <a:avLst/>
          </a:prstGeom>
          <a:solidFill>
            <a:srgbClr val="1F5FA8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AI ผ่าน OpenRouter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8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45775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วันนี้ระบบของเราเรียก AI เองเป็นครั้งแรก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8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ผู้ช่วย AI ในระบบ หน้าตาเป็นแบบนี้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ผู้แจ้งพิมพ์อาการเสีย แล้วกดปุ่มเดียว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ระบบส่งข้อความไปถาม AI แทนผู้ใช้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0256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ช่องหมวดหมู่ถูกเติมให้เอง พร้อมป้ายกำกับ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8  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🔁 เครื่องมือเดิมของเรา — วงจร 4 จังหวะ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563624"/>
            <a:ext cx="2348407" cy="1051560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สั่งสั้น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217452" y="1931670"/>
            <a:ext cx="291876" cy="31546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555415" y="1563624"/>
            <a:ext cx="2348407" cy="1051560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AI เขียนแผน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49907" y="1931670"/>
            <a:ext cx="291876" cy="31546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87870" y="1563624"/>
            <a:ext cx="2348407" cy="1051560"/>
          </a:xfrm>
          <a:prstGeom prst="roundRect">
            <a:avLst/>
          </a:prstGeom>
          <a:solidFill>
            <a:srgbClr val="1F5FA8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เราตรวจแผน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682362" y="1931670"/>
            <a:ext cx="291876" cy="31546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020325" y="1563624"/>
            <a:ext cx="2348407" cy="1051560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ลงมือทีละข้อ</a:t>
            </a:r>
          </a:p>
        </p:txBody>
      </p:sp>
      <p:sp>
        <p:nvSpPr>
          <p:cNvPr id="10" name="Left Arrow 9"/>
          <p:cNvSpPr/>
          <p:nvPr/>
        </p:nvSpPr>
        <p:spPr>
          <a:xfrm>
            <a:off x="822960" y="2761488"/>
            <a:ext cx="10545775" cy="292608"/>
          </a:xfrm>
          <a:prstGeom prst="lef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วนกลับไปทำรอบต่อไป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8    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OpenRouter คืออะไร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แปลว่า เคาน์เตอร์กลางสำหรับเรียก AI หลายเจ้า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สมัครที่เดียว เรียกได้หลายโมเดล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0256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เปลี่ยนโมเดล = แก้ชื่อ 1 บรรทัด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8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กุญแจ (API key) ของคุณ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API key แปลว่า กุญแจประจำตัวสำหรับเรียกใช้บริการ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คนละ 1 ใบ ผู้สอนตั้งวงเงินไว้แล้วทุกใบ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0256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ใครถือกุญแจ ก็เรียก AI ในนามคุณได้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8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💬 วางคีย์ลงใน prompt ได้เลย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72184"/>
            <a:ext cx="10545775" cy="1847088"/>
          </a:xfrm>
          <a:prstGeom prst="roundRect">
            <a:avLst/>
          </a:prstGeom>
          <a:solidFill>
            <a:srgbClr val="FFF7E6"/>
          </a:solidFill>
          <a:ln w="22225">
            <a:solidFill>
              <a:srgbClr val="E0A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22960" y="1472184"/>
            <a:ext cx="100584" cy="1847088"/>
          </a:xfrm>
          <a:prstGeom prst="roundRect">
            <a:avLst/>
          </a:prstGeom>
          <a:solidFill>
            <a:srgbClr val="E0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27048"/>
            <a:ext cx="1008857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86C0A"/>
                </a:solidFill>
                <a:latin typeface="Leelawadee UI"/>
                <a:ea typeface="Leelawadee UI"/>
                <a:cs typeface="Leelawadee UI"/>
              </a:rPr>
              <a:t>💬 พิมพ์แบบนี้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56232"/>
            <a:ext cx="10088575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ผมจะใช้ AI ผ่าน OpenRouter ในเว็บนี้</a:t>
            </a:r>
          </a:p>
          <a:p>
            <a:pPr algn="l"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คีย์ของผมคือ sk-or-xxxxxxxx และใช้โมเดล google/gemini-2.5-flash-lite</a:t>
            </a:r>
          </a:p>
          <a:p>
            <a:pPr algn="l"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ช่วยทำหน้าทดสอบที่กดปุ่มแล้วส่งข้อความว่า สวัสดี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044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ไม่ต้องสร้างไฟล์ตั้งค่าแยก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3562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⚠️ คีย์จะติดไปกับโค้ดและขึ้น GitHub ด้วย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8     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82735" y="10972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8A5400"/>
                </a:solidFill>
                <a:latin typeface="Leelawadee UI"/>
                <a:ea typeface="Leelawadee UI"/>
                <a:cs typeface="Leelawadee UI"/>
              </a:rPr>
              <a:t>🎬 สลับไปหน้าจอสาธิตสด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545775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8A5400"/>
                </a:solidFill>
                <a:latin typeface="Leelawadee UI"/>
                <a:ea typeface="Leelawadee UI"/>
                <a:cs typeface="Leelawadee UI"/>
              </a:rPr>
              <a:t>🎬💥 ดูของจริง — ปุ่ม AI ทำงานจริง จากระดับ 1 ถึงระดับ 2 ⏱ 34 นาที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7568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วางคีย์ใน prompt แล้วเรียก AI ให้สำเร็จ 1 ครั้ง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0876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ปุ่มเดียวจัดหมวดหมู่ให้ พร้อมป้ายข้อเสนอ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0606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💥 ลบกติกาการตอบทิ้ง แล้วดูระบบไม่พังตาม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21252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👀 จุดที่ต้องดูให้ทัน: ผู้ช่วยระดับ 2 เขียนบันทึกว่าอ่านอะไรไปบ้าง (aiLog)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8     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คีย์ที่อยู่ในหน้าเว็บ คนอื่นเปิดดูได้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เว็บของเราไม่มีตัวกลาง คีย์จึงติดไปกับหน้าเว็บ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วันนี้ยอมรับได้ เพราะผู้สอนตั้งวงเงินไว้ทุกใบ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0256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⛔ ระบบจริงห้ามทำแบบนี้ — ต้องมีตัวกลางเก็บคีย์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8      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ของสำคัญควรอยู่ฝั่งไหน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563624"/>
            <a:ext cx="10545775" cy="1508760"/>
          </a:xfrm>
          <a:prstGeom prst="roundRect">
            <a:avLst/>
          </a:prstGeom>
          <a:solidFill>
            <a:srgbClr val="EAF6EC"/>
          </a:solidFill>
          <a:ln w="19050">
            <a:solidFill>
              <a:srgbClr val="3F9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87552" y="1636776"/>
            <a:ext cx="1021659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F9B54"/>
                </a:solidFill>
                <a:latin typeface="Leelawadee UI"/>
                <a:ea typeface="Leelawadee UI"/>
                <a:cs typeface="Leelawadee UI"/>
              </a:rPr>
              <a:t>✅ ที่ควรอยู่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" y="1984248"/>
            <a:ext cx="3088538" cy="996696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ฝั่งเซิร์ฟเวอร์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213615" y="2333092"/>
            <a:ext cx="291876" cy="29900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51578" y="1984248"/>
            <a:ext cx="3088538" cy="996696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ผู้ใช้แตะไม่ได้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686201" y="2333092"/>
            <a:ext cx="291876" cy="29900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24164" y="1984248"/>
            <a:ext cx="3088538" cy="996696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จึงกันได้จริง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273552"/>
            <a:ext cx="10545775" cy="150876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87552" y="3346704"/>
            <a:ext cx="1021659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9534F"/>
                </a:solidFill>
                <a:latin typeface="Leelawadee UI"/>
                <a:ea typeface="Leelawadee UI"/>
                <a:cs typeface="Leelawadee UI"/>
              </a:rPr>
              <a:t>🔑 คีย์วันนี้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8992" y="3694176"/>
            <a:ext cx="3088538" cy="996696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อยู่ฝั่งผู้ใช้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213615" y="4043020"/>
            <a:ext cx="291876" cy="29900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51578" y="3694176"/>
            <a:ext cx="3088538" cy="996696"/>
          </a:xfrm>
          <a:prstGeom prst="roundRect">
            <a:avLst/>
          </a:prstGeom>
          <a:solidFill>
            <a:srgbClr val="1F5FA8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ผู้ใช้เปิดดูได้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686201" y="4043020"/>
            <a:ext cx="291876" cy="29900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24164" y="3694176"/>
            <a:ext cx="3088538" cy="996696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จึงเป็นความเสี่ยง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8      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ผู้ช่วยระดับ 1 — ปุ่มเดียว งานเดียว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🎬 FixIt: จัดหมวดหมู่จากข้อความที่ผู้แจ้งพิมพ์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🔧 LeaveEasy: จัดประเภทการลาจากเหตุผล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0256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👥 หัวข้อของคุณ: งานคัดแยกของคุณคืออะไร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8       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เส้นทางของปุ่ม AI ระดับ 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563624"/>
            <a:ext cx="2348407" cy="1051560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ผู้ใช้กดปุ่ม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217452" y="1931670"/>
            <a:ext cx="291876" cy="31546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555415" y="1563624"/>
            <a:ext cx="2348407" cy="1051560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ส่งข้อความให้ AI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49907" y="1931670"/>
            <a:ext cx="291876" cy="31546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87870" y="1563624"/>
            <a:ext cx="2348407" cy="1051560"/>
          </a:xfrm>
          <a:prstGeom prst="roundRect">
            <a:avLst/>
          </a:prstGeom>
          <a:solidFill>
            <a:srgbClr val="1F5FA8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ตรวจคำตอบก่อนใช้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682362" y="1931670"/>
            <a:ext cx="291876" cy="31546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020325" y="1563624"/>
            <a:ext cx="2348407" cy="1051560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เติมช่องพร้อมป้าย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8       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💬 สั่งเพิ่มปุ่ม AI — จังหวะที่ 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72184"/>
            <a:ext cx="10545775" cy="1847088"/>
          </a:xfrm>
          <a:prstGeom prst="roundRect">
            <a:avLst/>
          </a:prstGeom>
          <a:solidFill>
            <a:srgbClr val="FFF7E6"/>
          </a:solidFill>
          <a:ln w="22225">
            <a:solidFill>
              <a:srgbClr val="E0A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22960" y="1472184"/>
            <a:ext cx="100584" cy="1847088"/>
          </a:xfrm>
          <a:prstGeom prst="roundRect">
            <a:avLst/>
          </a:prstGeom>
          <a:solidFill>
            <a:srgbClr val="E0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27048"/>
            <a:ext cx="1008857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86C0A"/>
                </a:solidFill>
                <a:latin typeface="Leelawadee UI"/>
                <a:ea typeface="Leelawadee UI"/>
                <a:cs typeface="Leelawadee UI"/>
              </a:rPr>
              <a:t>💬 จังหวะที่ 1 — ขอแผนก่อน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56232"/>
            <a:ext cx="10088575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ผมอยากเพิ่มปุ่มให้ AI ช่วยจัดหมวดหมู่ใบแจ้งซ่อม</a:t>
            </a:r>
          </a:p>
          <a:p>
            <a:pPr algn="l"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โดยเรียกผ่าน OpenRouter</a:t>
            </a:r>
          </a:p>
          <a:p>
            <a:pPr algn="l"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ช่วยเขียนแผนให้ผมดูก่อน อย่าเพิ่งลงมือ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8        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จังหวะที่ 3 — แผนของฟีเจอร์ AI มักขาด 2 อย่าง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7568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ไม่ได้ส่งรายการตัวเลือกที่มีจริงไปให้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0876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ไม่มีการตรวจคำตอบก่อนบันทึก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0606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จังหวะนี้คือจังหวะที่เราทำงาน ไม่ใช่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8        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ข้อความที่ระบบส่งให้ AI ต้องมี 3 อย่าง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📋 รายการตัวเลือกที่มีจริงในระบบ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📏 กติกาตอบ: ชื่อเดียว ห้ามอธิบาย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0256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🧪 ตัวอย่างคำถาม-คำตอบ อย่างน้อย 2 ชุด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8        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ตรวจคำตอบก่อนบันทึก — เสมอ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AI ตอบนอกรายการที่มีจริงได้ทุกเมื่อ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คำตอบไม่อยู่ในรายการ → ไม่บันทึก + บอกผู้ใช้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0256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ชั้นตรวจนี้ห้ามถอด ต่อให้ prompt ดีแล้ว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8        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ครบ 3 อย่าง ไม่งั้นถือว่ายังไม่เสร็จ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472184"/>
          <a:ext cx="1054577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5258"/>
                <a:gridCol w="3515258"/>
                <a:gridCol w="3515259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#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ต้องมี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ตรวจอย่างไร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ป้าย "ข้อเสนอจาก AI — โปรดตรวจสอบก่อนยืนยัน"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เห็นทุกครั้งที่ AI เติมให้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2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สถานะกำลังโหลด + กันกดซ้ำ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ปุ่มเปลี่ยนข้อความ กดซ้ำไม่ได้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ข้อความไทยเมื่อเรียกไม่สำเร็จ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ปิดเน็ตแล้วระบบไม่ค้าง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8        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ทำไมป้ายกำกับไม่ใช่ของประดับ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AI แต่งเรื่องได้อย่างมั่นใจ (เรียนแล้วเดือนที่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ผู้ใช้ต้องรู้ว่ากำลังดูข้อเสนอ ไม่ใช่คำตัดสิน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0256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ผู้ใช้แก้เองได้เสมอ — คนเป็นคนตัดสินใจ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8        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🧭 ครึ่งทางของช่วงนี้ — เราได้อะไรมาแล้ว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เรียก AI สำเร็จแล้ว 1 ครั้ง ก่อนแตะฟีเจอร์จริง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ปุ่ม AI ระดับ 1 ทำงานครบวงจร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0256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ระบบตรวจคำตอบก่อนบันทึกเสมอ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8        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☕ พัก 10 นาที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กลับมา 10:10 ตรง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กลับมาแล้วผู้ช่วยของเราจะทำงานเป็นขั้นเอง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8         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45775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ช่วงที่ 2 — ผู้ช่วย AI ระดับ 2 (agentic) ⏱ 70 นาที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8         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ระดับ 2 — ผู้ช่วยที่ทำงานเป็นขั้น (agentic)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7568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agentic อ่านว่า เอ-เจน-ติก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0876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แปลว่า ผู้ช่วยที่ทำงานหลายขั้นต่อเนื่องเอง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0606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ไม่ใช่ถามตอบครั้งเดียวแบบระดับ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8         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ผู้ช่วยระดับ 2 เดิน 4 ขั้นนี้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563624"/>
            <a:ext cx="2348407" cy="1051560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อ่านหลายที่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217452" y="1931670"/>
            <a:ext cx="291876" cy="31546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555415" y="1563624"/>
            <a:ext cx="2348407" cy="1051560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ตัดสินใจ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49907" y="1931670"/>
            <a:ext cx="291876" cy="31546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87870" y="1563624"/>
            <a:ext cx="2348407" cy="1051560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เขียนกลับ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682362" y="1931670"/>
            <a:ext cx="291876" cy="31546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020325" y="1563624"/>
            <a:ext cx="2348407" cy="1051560"/>
          </a:xfrm>
          <a:prstGeom prst="roundRect">
            <a:avLst/>
          </a:prstGeom>
          <a:solidFill>
            <a:srgbClr val="1F5FA8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บันทึกว่าทำอะไรไป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8         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ระดับ 2 ของ FixIt — ผู้ช่วยมอบหมายงาน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อ่านใบแจ้งซ่อมใหม่ + ประวัติงานที่ช่างแต่ละคนเคยทำ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เสนอว่าควรมอบหมายให้ใคร พร้อมเหตุผล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0256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เขียนข้อเสนอกลับลงใบ + บันทึกว่าอ่านอะไรไป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8         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ระดับ 1 กับ ระดับ 2 ต่างกันตรงไหน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472184"/>
          <a:ext cx="1054577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5258"/>
                <a:gridCol w="3515258"/>
                <a:gridCol w="3515259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ระดับ 1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ระดับ 2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อ่าน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ข้อความเดียว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หลายที่ (ใบงาน + ประวัติ)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ทำ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เติม 1 ช่อง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ตัดสินใจแล้วเขียนกลับ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ร่องรอย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บันทึกว่าทำอะไรไป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8         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ข้อเสนอของผู้ช่วยระดับ 2 ก็ยังเป็นข้อเสนอ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7568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ปุ่มยืนยันเป็นของคน — เฉพาะบทบาทที่มีสิทธิ์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0876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ป้าย AI และแก้ได้เสมอ ใช้กับระดับ 2 เหมือนกัน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0606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AI ไม่มีสิทธิ์กดอนุมัติหรือมอบหมายแทนใคร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8         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ลองงานเดียวกันกับ 2 โมเดล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ตัวหลัก google/gemini-2.5-flash-lite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ตัวถูกกว่า meta-llama/llama-3.1-8b-instruct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02560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เปลี่ยนโมเดล = บอก Claude 1 บรรทัด ว่าขอเปลี่ยนเป็นตัวไหน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8663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ผลต่างจริง: ความเร็ว · ความนิ่งของคำตอบภาษาไทย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8         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🔬 ก่อนจบช่วง — เปิดดูคีย์ตัวเองในเว็บจริง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7568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เปิด URL ที่ deploy แล้ว → กด F12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0876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จะเห็นคีย์ของตัวเองอ่านได้ด้วยตาเปล่า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0606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จดลง Backlog Sprint 2: เปลี่ยนไปใช้ตัวกลางเก็บคีย์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8         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✅ สองช่วงนี้คุณต้องได้สิ่งเหล่านี้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ปุ่ม AI ระดับ 1 พร้อมของบังคับ 3 อย่าง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เข้าใจ 4 ขั้นของผู้ช่วยระดับ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02560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รู้ว่าคีย์อยู่ในหน้าเว็บ และทำไมระบบจริงทำแบบนี้ไม่ได้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8663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เห็นแล้วว่า 2 โมเดลให้ผลต่างกัน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8         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45775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ปิดคาบ — เตรียมเข้า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8         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ทวนทั้งคาบใน 3 บรรทัด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🤖 ระดับ 1: ปุ่มเดียว งานเดียว + ของบังคับ 3 อย่าง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🤖 ระดับ 2: อ่านหลายที่ → สรุปให้คนอ่าน → จดบันทึก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02560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🔑 คีย์อยู่ผิดฝั่งวันนี้ — จำกัดด้วยวงเงิน แล้วจดลง Backlog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8         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🔗 ตารางเทียบ — ช่องขวาเว้นให้คุณเติม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472184"/>
          <a:ext cx="1054577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5258"/>
                <a:gridCol w="3515258"/>
                <a:gridCol w="3515259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🎬 FixIt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🔧 LeaveEasy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👥 คุณ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tickets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leaveRequests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?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aiLog (โฟลเดอร์ย่อย)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aiLog (โฟลเดอร์ย่อย)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?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reporter / technician / admin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employee / manager / hr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?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8         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🔗 ตารางเทียบ (ต่อ) — ฝั่งผู้ช่วย AI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472184"/>
          <a:ext cx="10545775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5258"/>
                <a:gridCol w="3515258"/>
                <a:gridCol w="3515259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🎬 FixIt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🔧 LeaveEasy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👥 คุณ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จัดหมวดหมู่จากอาการเสีย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จัดประเภทการลาจากเหตุผล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?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เสนอมอบหมายช่าง + เหตุผล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สรุปใบลาให้หัวหน้าก่อนอนุมัติ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?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8         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🔧 Workshop บ่ายนี้ — LeaveEasy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ส่วน A ผู้ช่วย AI ระดับ 1 ⏱ 36 นาที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ส่วน B ผู้ช่วย AI ระดับ 2 (agentic) ⏱ 35 นาที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0256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⏰ เสร็จแล้วเวลาที่เหลือ เริ่มการบ้านกับหัวข้อตัวเอง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8         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🚩 Checkpoint 2 จุดของบ่ายนี้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1 ผู้ช่วยระดับ 1 ทำงานได้ + มีป้าย + ปิดเน็ตแล้วไม่ค้าง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56256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2 ระดับ 2 ทำงานเป็นขั้นได้ + มีบันทึก aiLog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8         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👥 กติกาของบ่ายนี้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🔗 เช็กว่าคุณอยู่ห้องย่อยไหน — ตารางห้องย่อยอยู่ในแชท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🖥️ สลับคนนำจอทุก Checkpoint · ทุกคนพิมพ์เอง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0256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👤 ทุกคนต้องมี commit ในชื่อตัวเอง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1774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❓ เรียก TA แล้วให้คนที่ไม่ได้พิมพ์เป็นคนอธิบาย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8         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45775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ขั้นตอนที่เพิ่งดู — ในหัวข้อของคุณคืออะไร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8          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