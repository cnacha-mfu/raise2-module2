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ทักทายด้วยชื่อคนที่เห็นในห้องอย่างน้อย 3 คน แล้วพูดว่า "วันนี้เป็นวันแรกของ Module 2 ครับ Module 1 ทุกคนได้เว็บ prototype ที่กดดูได้มาแล้ว วันนี้เราจะทำให้มันเริ่มจำข้อมูลได้จริง ขอให้เปิดกล้อง 1 นาทีตอนเริ่ม ให้ผมเห็นว่าใครมาครบ"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ใช้เวลาไม่เกิน 2 นาที อย่าไล่อ่าน CV · ชี้บรรทัดที่สองแล้วเล่าสั้น ๆ ว่า "ผมเคยทำระบบมาหลายวงการมาก ตั้งแต่ระบบสายการบินที่ต้องจัดน้ำหนักสินค้าขึ้นเครื่อง ไปจนถึงระบบเอกสารของธนาคาร แต่ละวงการคิดไม่เหมือนกันเลยครับ สิ่งที่ได้คือการมองให้ออกก่อนว่าธุรกิจแบบนั้นต้องการอะไรจริง ๆ แล้วค่อยลงมือสร้าง — ซึ่งเป็นสิ่งเดียวกับที่ผมอยากให้พวกคุณฝึกในสี่สัปดาห์นี้" · ชี้บรรทัดที่สี่ "ผมสนใจเรื่อง startup เป็นพิเศษ เคยร่วมก่อตั้งบริษัทมาเอง และทุกวันนี้ทำวิจัยเรื่องให้ AI ช่วยเขียนโค้ด ซึ่งเป็นเรื่องเดียวกับที่เราจะใช้กันทั้งหลักสูตร" · ปิดด้วยบรรทัดสุดท้าย "ติดอะไรทักมาได้เลยครับ ไม่ต้องรอถึงวันเสาร์"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ถามห้องก่อนว่า "ใครเคยกรอกฟอร์มใน prototype ของตัวเองแล้วรีเฟรช ข้อมูลหายไหมครับ" รอคำตอบในแชท แล้วพูดว่า "หายทุกคนครับ เพราะมันยังไม่มีที่เก็บ วันนี้เราจะแก้เรื่องนี้"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หยุด 3 วินาทีให้อ่าน แล้วพูดว่า "ประโยคนี้คือความคิดเดียวของวันนี้ครับ เย็นนี้ระบบของคุณจะจำข้อมูลได้ ปิดเบราว์เซอร์แล้วเปิดใหม่ ข้อมูลยังอยู่"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พูดว่า "สี่ข้อนี้คือของจับต้องได้ ไม่ใช่ความรู้สึกว่าเข้าใจ ตอนบ่ายคุณจะทำครบทั้งสี่ข้อกับ LeaveEasy แล้วการบ้านทำซ้ำกับหัวข้อของตัวเอง" ย้ำว่าข้อสุดท้ายคือครั้งแรกที่หน้าจอกับฐานข้อมูลได้เจอกัน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หยุด 2 วินาทีก่อนพูด แล้วพูดว่า "ก่อนเริ่ม ผมอยากเคลียร์เรื่องนี้ก่อน เพราะความกลัวว่าต้องรู้ทุกอย่างทำให้คนหยุดตัวเองก่อนได้เริ่ม" ค้างสไลด์ 5 วินาทีให้อ่านทัน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พูดทีละข้อ ช้า ๆ แล้วปิดท้ายว่า "สิ่งที่คุณต้องทำได้มีอย่างเดียว คืออ่านสิ่งที่ AI เขียนมาแล้วบอกได้ว่าใช่หรือไม่ใช่ นั่นคือทักษะของ Module นี้" · เตือนว่า "คำสั่งของ Claude Code เปลี่ยนได้ตามเวอร์ชัน ถ้าพิมพ์แล้วไม่ได้ผล พิมพ์ /help ดูรายการที่ใช้ได้จริงในเครื่องคุณ"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ชี้บรรทัดแรกแล้วพูดว่า "วันนี้เราไม่สร้างหน้าจอจากศูนย์นะครับ คุณมี prototype อยู่แล้ว เรานำมันเข้า repo แล้วต่อฐานข้อมูลเลย" · ชี้คำว่า "อ่านจริง" แล้วบอกว่า "วันนี้เราทำเฉพาะการอ่านข้อมูลจากฐาน ปุ่มเพิ่ม แก้ ลบ เป็นเรื่องของสัปดาห์หน้า อย่าเพิ่งไปทำ"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พูดว่า "ผมจะบอกทุกครั้งว่าเราอยู่ตรงไหนของแผนที่นี้" ชี้สองบรรทัดที่มีดาวแล้วบอกว่า "สองช่วงนี้คือหัวใจของวันนี้ครับ วิธีสั่งงาน AI กับการสร้างฐานข้อมูลจริง"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ไล่ทีละบรรทัด ย้ำหนัก ๆ ว่า "บ่ายนี้ทุกคนทำ LeaveEasy พร้อมกันทีละขั้น เพราะเป็นระบบเดียวกัน ติดตรงไหนช่วยกันได้ทันที · แล้วการบ้านคือทำสิ่งเดียวกันนี้ซ้ำกับหัวข้อของตัวเอง" · ให้ผู้เรียนเปิดลิงก์ตามใน 2 นาที แล้วถามว่า "กรอกแล้วรีเฟรช เกิดอะไรขึ้นครับ" รอคำตอบในแชท · ย้ำว่าต้นแบบของตัวเองจาก Module 1 ก็เป็นแบบเดียวกัน · บอกล่วงหน้าว่าบ่ายนี้จะ fork repo LeaveEasy ไปเป็นของตัวเองบน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สไลด์ภาพรวมก่อนลงรายละเอียด ใช้ 2 นาทีพอ · ชี้แถบบนจากซ้ายไปขวา "บริษัทที่สร้าง AI เอาข้อความจากทั้งอินเทอร์เน็ตมาให้มันอ่าน แล้วให้มันจำว่าคำไหนมักตามหลังคำไหน · ใช้เวลาเป็นเดือนและใช้เงินมหาศาล แต่ทำครั้งเดียวจบ" · หยุดที่กล่องเข้ม "ผลลัพธ์คือไฟล์ก้อนหนึ่งที่เรียกว่าโมเดล — LLM ย่อมาจาก Large Language Model แปลตรงตัวว่าโมเดลภาษาขนาดใหญ่" · ชี้แถบล่าง "ส่วนตอนที่พวกคุณใช้ คือส่งข้อความไปให้ก้อนนั้น มันเดาคำตอบ แล้วส่งกลับมา จบในไม่กี่วินาที" · ประโยคที่สำคัญที่สุดของสไลด์นี้ "สังเกตนะครับว่าตอนคุยกับเรา มันไม่ได้เรียนรู้อะไรเพิ่มเลย — ก้อนเดิมทั้งวัน · เพราะฉะนั้นสิ่งที่คุณสอนมันวันนี้ พรุ่งนี้มันจำไม่ได้ · เดี๋ยวสัปดาห์ที่ 7 เราจะแก้ข้อนี้ด้วยไฟล์ CLAUDE.md"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จังหวะแรกที่ให้ห้องลงมือ ห้ามข้าม · อ่านออกเสียงแล้วพูดว่า "พิมพ์คำเดียวในแชทเลยครับ ไม่ต้องคิดนาน" · รอจนมีคำตอบอย่างน้อย 10 คน แล้วอ่านออกเสียง 4–5 อัน · เกือบทั้งห้องจะตอบว่า "ดี" · พูดว่า "เห็นไหมครับ พวกคุณเพิ่งทำสิ่งเดียวกับที่ AI ทำ" แล้วค่อยกดสไลด์ถัดไป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เฉลยต่อจากที่ห้องเพิ่งตอบ — "ที่พวกคุณตอบว่าดีกันเกือบหมด ไม่ใช่เพราะรู้จักอากาศวันนี้นะครับ แต่เพราะเคยได้ยินประโยคแบบนี้มาเยอะ · AI ทำแบบเดียวกันเป๊ะ" · ชี้บรรทัดสุดท้าย "และโค้ดก็คือข้อความแบบหนึ่ง มันจึงเขียนโค้ดด้วยวิธีเดียวกันนี้" · ปิดด้วย "ส่วนคณิตศาสตร์ข้างในโมเดล ไม่ต้องรู้เลยครับ ไม่มีผลกับงานของคุณ"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หยุดที่บรรทัด 🙋 รอให้มีมืออย่างน้อย 5 อันก่อนไปต่อ แล้วขอให้ 1 คนเล่าสั้น ๆ ว่าเจอเรื่องอะไร (30 วินาที) — เรื่องจริงจากเพื่อนร่วมห้องจำได้ดีกว่าที่ผู้สอนเล่าเอง · ย้ำบรรทัดสอง "เวลามันผิด มันไม่ได้พูดเสียงสั่นนะครับ มั่นใจเท่าตอนถูกเป๊ะ นั่นแหละคือสิ่งที่อันตราย" · เชื่อมทันทีว่า "คุณคือคนที่รู้ว่าธุรกิจคุณต้องการอะไร มันไม่รู้ — วิธีที่เราจะใช้ทั้งหลักสูตรจึงเริ่มจากให้มันเขียนแผนมาให้เราตรวจก่อน"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ถามบรรทัด 🙋 ก่อนเฉลยบรรทัดสาม ให้พิมพ์ ไทย หรือ อังกฤษ ในแชท · ส่วนใหญ่จะตอบผิดว่าอังกฤษ · เฉลยว่า "ภาษาไทยครับ ถูกหั่นละเอียดกว่า ประโยคเท่ากันเรากินโทเคนมากกว่า" แล้วรีบบอกว่า "ข้อนี้ไม่ต้องทำอะไรนะครับ ขอให้รู้ไว้เฉย ๆ" · พูดว่า "ทีนี้มาดูว่ามันอ่านข้อความของเรายังไง" · ชี้บรรทัดสาม "ข้อนี้ไม่ต้องทำอะไรนะครับ ขอให้รู้ไว้เฉย ๆ" · ปิดด้วย "การพิมพ์สั้นแต่ชัด จึงไม่ได้ประหยัดเวลาอย่างเดียว ประหยัดเงินด้วย"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สไลด์ที่สำคัญที่สุดของช่วงนี้ · ชี้กล่องซ้ายไปขวาทีละใบ พูดว่า "ทุกอย่างที่ AI ใช้คิด ต้องวางอยู่บนโต๊ะตัวนี้ทั้งหมด — คำสั่งของคุณ ไฟล์ที่มันเปิดอ่าน และบทสนทนาทั้งหมดตั้งแต่เช้า" · หยุดที่กล่องเข้มขวาสุดแล้วย้ำ "แล้วโต๊ะตัวนี้มีขนาดจำกัดครับ ศัพท์ทางการเรียกว่า Context Window" · อย่ารีบข้าม รอให้ห้องพยักหน้าก่อนไปต่อ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ทายก่อนเฉลย · ให้ตัวเลือกปากเปล่า 3 ข้อแล้วให้พิมพ์เลขในแชท — "หนึ่ง คำสั่งล่าสุดที่คุณเพิ่งพิมพ์ · สอง ไฟล์ที่มันเปิดอ่าน · สาม ข้อตกลงที่คุยกันไว้ตอนต้น" · รอคำตอบ 10 วินาที · คนส่วนใหญ่จะตอบข้อหนึ่ง ซึ่งผิด · แล้วค่อยกดสไลด์ถัดไปเฉลย — ความรู้สึกว่าเดาผิดคือสิ่งที่ทำให้จำได้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ย้ำบรรทัดสุดท้ายให้หนัก "เวลาเจอแบบนี้ อย่าเพิ่งคิดว่าตัวเองสั่งไม่เป็นนะครับ โต๊ะมันเต็ม เท่านั้นเอง" · ปิดช่วงว่า "สามข้อที่เพิ่งเล่า — เดาเก่งไม่ใช่รู้จริง · โทเคนคือเงิน · โต๊ะมีจำกัด — คือเหตุผลของทุกอย่างที่เราจะทำกันวันนี้ เดี๋ยวช่วงสุดท้ายก่อนพักเที่ยงเราจะกลับมาที่โต๊ะตัวนี้อีกครั้ง ตอนที่คุณเห็นอาการจริงกับตาแล้ว"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อ่านตัวเลือกให้ฟัง — "หนึ่ง เปิดหน้าเว็บแชท ถามแล้วคัดลอกคำตอบไปใช้ · สอง มันเข้าไปแก้ไฟล์ในเครื่องคุณเอง" · รอให้ตัวเลขวิ่งในแชทสัก 15 วินาที เกือบทั้งห้องจะตอบ 1 · พูดว่า "แทบทุกคนตอบหนึ่งครับ — สี่สัปดาห์นี้เราจะย้ายไปแบบสอง มาดูกันว่าต่างกันยังไง"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สไลด์ที่อธิบายว่าทำไมคอร์สนี้ไม่ใช้หน้าเว็บแชท · ชี้แถบบนทีละกล่อง "แบบที่ทุกคนคุ้น คือเราถาม มันตอบเป็นข้อความ แล้วเราต้องคัดลอกไปวางเองทีละไฟล์ ผิดไฟล์เมื่อไรก็พัง" · ชี้แถบล่าง "ส่วน coding agent เราบอกแค่เป้าหมาย มันเปิดไฟล์ในเครื่องเราเอง แก้เอง รันเอง อ่าน error เอง แล้วแก้ต่อ" · ย้ำกล่องเข้มขวาสุดของแถบล่าง "หน้าที่ที่เหลือของเราคือตรวจ ซึ่งเป็นงานที่คุณทำได้แม้ไม่เคยเขียนโปรแกรม"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ถามบรรทัด 🙋 ก่อนอธิบาย · คำตอบคือ ทำไม่ได้เลยทั้ง 5 ข้อ ถ้าไม่ให้มันเข้าถึงเครื่องเรา — เฉลยแล้วห้องจะเข้าใจทันทีว่าทำไมคอร์สนี้ไม่ใช้หน้าเว็บแชท · จากนั้นอ่านไล่ทีละข้อ แล้วผูกกับสิ่งที่ผู้เรียนจะเห็นวันนี้ — "ข้อหนึ่งกับข้อสองคุณจะเห็นตอนสาธิตอีกสิบนาที ข้อสามคือตอนที่เดโมพังแล้วผมไม่ต้องแก้เอง ข้อสี่คือตอนสร้าง Firestore ช่วงเกือบเที่ยง ส่วนข้อห้าเก็บไว้สัปดาห์ที่ 8" · ย้ำข้อสำคัญ "มันทำได้เยอะแบบนี้ แปลว่าเวลามันทำผิด มันก็ผิดได้เยอะเหมือนกัน — นี่คือเหตุผลที่เราจะไม่ปล่อยให้มันลงมือก่อนเราตรวจแผน"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ใช้ 1 นาทีครึ่ง ไม่ต้องลงรายละเอียดบริษัท · อธิบายคอลัมน์ขวาให้ชัดเพราะเป็นสิ่งเดียวที่ต้องจำ — 🔒 "แบบขาย เราส่งข้อความไปหาเครื่องเขา จ่ายตามที่ใช้ ไม่ต้องมีเครื่องแรง" · 🔓 "แบบเปิด เขาแจกไฟล์โมเดลให้โหลดมารันในเครื่องตัวเองได้ฟรี แต่ต้องมีเครื่องแรงพอ ซึ่งส่วนใหญ่เราไม่มี" · ประโยคที่ต้องพูด "คอร์สนี้ใช้ Claude แต่ไม่ได้แปลว่าตัวอื่นแย่นะครับ ทุกตัวทำงานด้วยหลักการเดียวกับที่เพิ่งเล่าไป" · โยงไปข้างหน้า "สัปดาห์ที่ 8 พวกคุณจะได้ลองสลับโมเดลเองผ่าน OpenRouter แล้วเทียบว่าตัวไหนตอบดีกว่าสำหรับงานของคุณ" · 💡 อยากใส่โลโก้บริษัทให้สวยขึ้น เปิด .pptx แล้ววางรูปทับคอลัมน์ซ้ายได้เลย ไฟล์ต้นฉบับไม่ต้องแก้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อ่านชื่อที่ห้องพิมพ์มา 3–4 อันแล้วไปต่อทันที · อย่าใช้เวลาเกิน 1 นาทีกับสไลด์นี้ จุดประสงค์คือให้รู้ว่ามีทางเลือก ไม่ใช่ให้จำชื่อ · พูดว่า "ทั้งหมดนี้ทำงานด้วยหลักการเดียวกับที่เพิ่งเล่าไปเมื่อกี้ครับ เดาคำถัดไป มีโทเคน มีโต๊ะทำงานที่จำกัด" · ประโยคที่ต้องพูดให้ได้ "คอร์สนี้ใช้ Claude Code เพราะทำงานกับไฟล์ทั้งโปรเจกต์ได้ดีและใช้ภาษาไทยได้ แต่สิ่งที่คุณจะได้กลับไปคือวิธีทำงานกับ AI ซึ่งย้ายไปใช้ตัวไหนก็ได้ ไม่ได้ผูกกับยี่ห้อ" · ถ้ามีคนถามถึงตัวที่ไม่ได้อยู่ในตาราง ให้ตอบว่าหลักการเดียวกันแล้วไปต่อ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พูดว่า "ช่วงนี้ 19 นาที จบ 09:50 ครับ · Git ทุกคนใช้เป็นแล้วตั้งแต่ Module 1 สัปดาห์ที่ 2 ผมทบทวน 15 นาทีเฉพาะเรื่องที่ต้องใช้ทั้งเดือน · ของใหม่จริงของช่วงนี้คือการนำ prototype เข้าโครงโปรเจกต์"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ถามห้องว่า "ใคร prototype ยังรันไม่ได้ หรือหาไฟล์ DB Schema ไม่เจอ พิมพ์ชื่อตัวเองในแชทครับ" รอ 20 วินาที แล้วบอกว่า TA จะตามไปช่วยก่อนบ่าย · ชี้บรรทัดสุดท้ายแล้วย้ำให้ชัด "ในคอร์สนี้พวกคุณไม่ต้องติดตั้งอะไรเองและไม่ต้องจำชื่อเครื่องมือครับ · ติดอะไรก็พิมพ์บอก Claude เป็นภาษาไทยว่าเครื่องผมยังไม่มีตัวนี้ ช่วยติดตั้งให้ที แล้วมันจะพาทำทีละขั้น" · ย้ำว่าแบบฟอร์มความพร้อมปิดไปแล้วเมื่อวันพฤหัส คนที่ติดธงแดงมีคิว Consult อยู่แล้ว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พูดว่า "Git ไม่ใช่ของใหม่ ทุกคนใช้มาแล้วตั้งแต่ Module 1 สัปดาห์ที่ 2 ผมทบทวนเฉพาะสองเรื่องที่ต้องใช้ทุกชั่วโมงใน Module นี้ คือ commit กับการย้อนกลับ" · บอกล่วงหน้าว่า "ของใหม่จริงคือการทำงานหลายคนบน repo เดียว ซึ่งอยู่สัปดาห์ที่ 7 วันนี้ยังไม่ต้องกังวล"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พูดว่า "commit คือเหตุผลที่เรากล้าให้ AI แตะโปรเจกต์จริง พังเมื่อไรย้อนกลับได้ใน 5 วินาที" · เตือนว่าข้อความ commit ต้องอ่านรู้เรื่อง เช่น "เพิ่มหน้ารายการใบแจ้งซ่อม" ไม่ใช่ "update" เพราะตอนต้องย้อน คุณต้องหาหมุดเจอ · บ่ายนี้ Checkpoint 3 ตรวจข้อนี้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เปิดด้วยคำถามที่ทุกคนกลัวที่สุด "ถ้า AI แก้แล้วพังจะทำยังไงครับ" รอ 5 วินาที แล้วชี้ทีละบรรทัดว่า "มีตาข่ายรับสองชั้น ไม่ได้มีชั้นเดียว" · ย้ำว่าเมนู Esc Esc ย้อนได้ทั้งไฟล์และบทสนทนา · ปิดท้ายว่า "ถ้าเมนูหน้าตาไม่เหมือนของผม พิมพ์ /help ดูรายการของเวอร์ชันคุณ" · ย้ำกล่องเหลือง "ชั้นที่สองไม่ต้องจำคำสั่งนะครับ พิมพ์ภาษาไทยบอกมันแบบนี้เลย"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ชี้ทีละบรรทัดแล้วพูดว่า "สังเกตว่าปุ่มย้อนมาก่อนเสมอ ขั้นที่ 2 มาก่อนขั้นที่ 3 เพราะเดี๋ยว AI จะเข้ามาแตะไฟล์จริง เราต้องมีหมุดก่อน" · ย้ำว่าทั้งสี่ขั้นไม่มีคำสั่งให้ท่องสักตัว "ทุกบรรทัดคือการพิมพ์บอก Claude เป็นภาษาไทย เหมือนที่เราทำกับ git ทั้งเดือน" · บอกความต่างให้ชัด "เช้านี้ FixIt เริ่มจากโฟลเดอร์เปล่าในเครื่องผม จึงต้องเริ่มเก็บประวัติใหม่ · แต่บ่ายนี้ LeaveEasy อยู่บน GitHub อยู่แล้ว คุณจึงแค่กด Fork มาเป็นของตัวเอง ประวัติติดมาให้เลย ขั้นที่ 3 กับ 4 เหมือนกันทุกอย่าง"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📍 สคริปต์สาธิต: w6-demo-fixit.md → บล็อก A · จบแล้วกลับเข้าสไลด์หน้า 32 · ก่อนสลับพูดว่า "ทุกคนดูอย่างเดียวนะครับ ยังไม่ต้องทำตาม ตอนบ่ายมีใบงานที่มีทุกขั้นตอนให้ทำเอง" · ย้ำอีกครั้งว่าบ่ายนี้ขั้นที่สองของคุณคือ กดปุ่ม Fork บนเว็บ GitHub ไม่ใช่เริ่มประวัติใหม่แบบที่เห็นในเดโม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ถามห้องสด ๆ ว่า "ถ้าสั่ง AI ไปเมื่อกี้แล้วรู้ตัวทันทีว่าไม่ใช่ ใช้ตาข่ายชั้นไหน พิมพ์ตอบในแชทครับ" คำตอบที่ต้องการคือ Esc Esc · อ่านคำตอบ 2–3 อันแล้วเข้าช่วงที่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พูดว่า "ช่วงนี้ 33 นาที และเป็นหัวใจของทั้ง Module ครับ เราจะได้วิธีทำงานกับ AI ที่ทำแล้วไม่พัง ทุกเดโมหลังจากนี้ผมจะใช้วิธีนี้ให้เห็นซ้ำ ๆ ทั้งวัน" · เชื่อมกลับไปที่ต้นคาบว่า "จำที่เล่าตอนเช้าได้ไหมครับว่ามันเดา ไม่ใช่รู้ — วิธีที่จะสอนต่อไปนี้คือวิธีรับมือกับข้อนั้นโดยตรง"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ย้ำข้อสุดท้ายว่า "นี่คือเหตุผลที่ผมทบทวน Git ก่อนครับ ไม่ใช่บังเอิญ เครื่องมือนี้แก้ไฟล์จริง เราต้องมีปุ่มย้อนก่อน"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อ่านออกเสียงทั้ง 4 จังหวะช้า ๆ แล้วพูดว่า "นี่คือวงจรที่คุณจะหมุนอีกหลายร้อยรอบใน Module นี้ ท่องไว้ 4 จังหวะ"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ชี้กล่องซ้ายสุดก่อน "จังหวะที่หนึ่ง พิมพ์สั้น 1 ถึง 3 บรรทัด บอกว่าอยากได้อะไร แล้วขอแผนก่อน" · กล่องที่สอง "AI เขียนแผนเป็นข้อ ๆ ยังไม่แตะโค้ด" · หยุดค้างที่กล่องเข้ม 5 วินาที พูดหนักแน่นว่า "จังหวะที่สามคือจังหวะของคุณ อ่านแผนแล้วบอกว่าข้อไหนไม่ใช่ นี่คืองานของคุณทั้ง Module" · กล่องขวาสุด "ค่อยสั่งลงมือ ทีละข้อ" · ชี้ลูกศรวนกลับ "งานถัดไปเริ่มที่จังหวะหนึ่งใหม่"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อ่านสองข้อบนออกเสียงช้า ๆ แล้วพูดว่า "ผมไม่ได้ขอให้คุณเขียนคำสั่งเก่ง ผมขอให้คุณอ่านแล้วบอกว่าข้อไหนไม่ใช่ ซึ่งคุณทำเป็นอยู่แล้วในงานประจำ" · ข้อสุดท้ายเสริมว่า "อ่านแผนไปเรื่อย ๆ คุณจะตอบได้เองตอน Consult รายคนว่าระบบของคุณทำงานยังไง ซึ่งวัดเป็นรายบุคคล"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อ่านกล่องเหลืองออกเสียง แล้วพูดว่า "สองบรรทัดครับ เท่านี้จริง ๆ" · ชี้กล่องเทา "นี่คือแผนที่ AI เขียนกลับมา ยังไม่มีโค้ดสักบรรทัด อ่านให้ครบทุกข้อก่อนตอบ" · ถามห้องว่า "ข้อไหนที่คุณอยากแก้บ้างครับ" รอคำตอบจริงก่อนเปลี่ยนสไลด์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ชี้กล่องบน "ผมไม่ได้เขียนแผนใหม่ทั้งฉบับ บอกไปสองข้อที่ไม่ใช่ แล้วบอกว่าที่เหลือโอเค เท่านี้พอ" · ชี้ประโยค "ทำทีละข้อ เสร็จข้อไหนบอกผมก่อน" แล้วพูดว่า "ประโยคนี้ทำให้เราตรวจได้ทีละข้อ ไม่ใช่มารู้ตอนพังทั้งก้อน" · ให้ทุกคนถ่ายรูปสองสไลด์นี้เก็บไว้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ชี้แถบบนไล่ 3 กล่อง หยุดค้างที่กล่องเข้ม "ตรงนี้คือจุดที่เจ็บ พังหนึ่งในห้า แล้วไม่รู้ว่าอันไหน" · จบแถบบน "ต้องรื้อทั้งก้อน ทั้งที่ของดีมีอยู่ 4 อย่าง" · ไล่แถบล่างทีละกล่อง ปิดท้าย "แถบล่างช้ากว่าตอนสั่ง แต่เร็วกว่ามากตอนที่มีอะไรพัง"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ชี้กล่องบน "อันนี้สั่ง 5 เรื่องพร้อมกัน ไม่มีจังหวะให้เราตรวจเลย" · ชี้กล่องล่าง "อันล่างสั้นกว่า และจบด้วยการขอแผน รายละเอียดที่เหลือไปบอกในจังหวะที่สาม ตอนเห็นแผนแล้ว" ให้ห้องดู 15 วินาที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อ่านทีละข้อ แล้วพูดว่า "กติกามีข้อเดียวคือมีคนนำจอ ที่เหลือทุกคนทำเองบนเครื่องตัวเอง ไม่มีการแบ่งหน้าที่" · ย้ำว่าคนนำจอต้องเล่าไปทำไป ไม่ใช่เงียบแล้วพิมพ์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📍 สคริปต์สาธิต: w6-demo-fixit.md → บล็อก B · จบแล้วกลับเข้าสไลด์หน้า 44 · ผู้เรียนต้องเห็นตอนที่แผนมาผิดแล้วผู้สอนแก้ด้วยประโยคเดียว ห้ามตัด · ก่อนเริ่มพูดว่า "ดูให้ดีนะครับ ตอนบ่ายคุณจะทำซ้ำแบบนี้หลายรอบ"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ให้ทุกคนพิมพ์ในแชทว่า 4 จังหวะคืออะไรโดยไม่เปิดสไลด์ รอ 30 วินาที อ่านคำตอบดัง ๆ 2 อัน · ถามต่อว่า "จังหวะไหนเป็นของเรา" คำตอบที่ต้องการคือจังหวะที่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พูดว่า "ลุกจากเก้าอี้จริง ๆ นะครับ ครึ่งหลังคือของใหม่ทั้งหมด ฐานข้อมูลแบบโฟลเดอร์และไฟล์" ตั้งนาฬิกาจับเวลาแชร์บนหน้าจอไว้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พูดว่า "ช่วงนี้ 35 นาที ขอให้พักมือจากคีย์บอร์ด ฟังและคิดตามอย่างเดียว เพราะช่วงนี้คือวิธีคิดที่คุณต้องใช้วาดแบบบนกระดาษตอนบ่าย"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ให้ผู้เรียนพิมพ์ 🙋 ในแชท รอจนได้อย่างน้อย 10 คน แล้วค่อยไปสไลด์ถัดไป · จังหวะนี้สำคัญ อย่าข้าม เพราะทั้งช่วงสร้างบนคำตอบนี้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พูดว่า "ทุกคนที่ยกมือเมื่อกี้ ใช้วิธีคิดแบบ NoSQL มาหลายปีแล้วโดยไม่รู้ตัว วันนี้เราจะแปะชื่อทางการลงบนสิ่งที่คุณทำเป็นอยู่แล้วเท่านั้น" · แปลศัพท์ทันที "NoSQL คือฐานข้อมูลที่เก็บแบบโฟลเดอร์และไฟล์ ไม่ใช่แบบตาราง Excel"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ชี้กล่องซ้ายสุด "นี่คือวิธีที่เราออกแบบ DB Schema กันไว้ตั้งแต่เดือนที่ 1 ตารางหนึ่งใบ ข้างในมีแถว ในแถวมีคอลัมน์" · ไล่นิ้วทีละกล่อง จบที่กล่องเข้ม · ย้ำหนักแน่นว่า "แบบนี้ไม่ผิดและไม่ต้องทิ้งนะครับ สไลด์ถัดไปคือของชุดเดียวกัน ในภาษาของ Firestore"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ชี้กล่องซ้ายสุด "โฟลเดอร์คือของที่สไลด์ที่แล้วเรียกว่าตาราง" · ไล่เทียบเป็นคู่ "แถวคือไฟล์ คอลัมน์คือข้อมูลในไฟล์" · จบที่กล่องเข้ม "ไม่มีของใหม่ที่ต้องเรียนเลยครับ มีแต่ชื่อเรียกใหม่"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อ่านออกเสียงทีละแถวจากซ้ายไปขวา "โฟลเดอร์ เรียกว่า collection ตัวอย่างคือโฟลเดอร์ tickets" · ย้ำว่าจำสามคำนี้ได้ ที่เหลือของวันนี้จะตามได้ลื่น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ชี้ path เต็มแล้วพูดว่า "อ่านจากซ้ายไปขวาเหมือนที่อยู่บ้าน โฟลเดอร์ tickets ไฟล์ t001 ข้างในมีโฟลเดอร์ comments ไฟล์ c001" · ให้ห้องอ่านตามพร้อมกัน 1 รอบ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พูดว่า "ค่อย ๆ กวาดตาดูนะครับ นี่คือทั้งฐานข้อมูลของ FixIt อยู่ในภาพเดียว" หยุด 10 วินาที · อย่าเพิ่งอธิบายบรรทัดที่จดชื่อซ้ำ ปล่อยค้างไว้ก่อน เดี๋ยวกลับมาที่มัน · ถามห้อง "โฟลเดอร์ใหญ่มีกี่โฟลเดอร์ · โฟลเดอร์ย่อยซ้อนอยู่ตรงไหน" ให้ตอบในแชท คำตอบคือ 3 กับ ซ้อนในไฟล์ t001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พูดว่า "ถ้าไฟล์หนึ่งสะกดตัวเล็ก อีกไฟล์สะกดตัวใหญ่ ระบบจะพังแบบเงียบ ๆ ไม่มี error ให้เห็น หน้าจอจะว่างเฉย ๆ" · บอกว่า "นี่คือเหตุผลที่ตอนบ่ายคุณต้องเขียนชื่อช่องข้อมูลทุกตัวลงกระดาษก่อน แล้วใช้ชุดเดียวกันทั้งระบบ และเป็นเหตุผลเดียวที่วันนี้จะมี prompt ยาวอยู่หนึ่งอัน"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สไลด์ที่ห้ามรีบที่สุดของช่วงนี้ · เล่าเป็นภาพ "เหมือนเปิดใบเสร็จแล้วเห็นแต่รหัสลูกค้า ต้องวิ่งไปเปิดแฟ้มทะเบียนลูกค้าอีกตู้ทุกครั้งที่อยากรู้ว่าใคร" · แปลศัพท์ JOIN = การเชื่อมสองตารางเข้าหากันในฐานข้อมูลแบบเดิม ซึ่ง Firestore ไม่มี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ชี้แถบบนไล่จากซ้าย หยุดที่กล่องเข้ม "ถึงตรงนี้หน้าจอขึ้นแต่ u001 อ่านแล้วไม่รู้ว่าใคร" · กล่องขวาสุดแถบบน "ใบแจ้งซ่อม 20 ใบ ก็วิ่ง 20 รอบ" · ไล่แถบล่างทีละกล่อง ปิดที่ "จบในไฟล์เดียว" · แล้วให้ศัพท์ตรงนี้ "วิธีนี้มีชื่อทางการว่า Denormalize แปลว่าจดข้อมูลที่ใช้บ่อยซ้ำไว้ในไฟล์เลย จะได้ไม่ต้องไปเปิดหาที่อื่น เก็บทั้ง reporterId และ reporterName คู่กันไว้" · เตือนล่วงหน้า "ถ้าตอนบ่ายหน้าจอขึ้นแต่รหัสประหลาด ไม่ขึ้นชื่อคน เก้าในสิบคือเก็บแต่ ID ไว้ ให้กลับมาที่สไลด์นี้"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พูดว่า "นี่คือการแลกที่ NoSQL บังคับให้เลือก ไม่มีทางเลือกที่ได้ทุกอย่าง" · เกณฑ์ตัดสิน: จดซ้ำสิ่งที่ต้องโชว์บนหน้ารายการและเปลี่ยนไม่บ่อย เช่นชื่อคน ชื่อประเภท · ตอบไม่ได้ว่าเปลี่ยนบ่อยไหม ให้จดซ้ำไว้ก่อน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บอกว่า "สี่บรรทัดนี้คือทั้งหมดของการแปลง ถ่ายรูปสไลด์นี้เก็บไว้ ตอนบ่ายคุณใช้มันวาดแบบของโครงงานตัวเองบนกระดาษ" · อธิบายข้อสาม "ช่องที่ชี้ไปตารางอื่น ศัพท์ทางการคือ Foreign Key เช่นช่องผู้แจ้งที่ชี้ไปตาราง users"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📍 สคริปต์สาธิต: w6-demo-fixit.md → บล็อก C · จบแล้วกลับเข้าสไลด์หน้า 60 · ช่วงนี้ผู้เรียนต้องตอบเองอย่างน้อย 3 ครั้ง อย่าเฉลยเอง · นี่คือแบบฝึกเดียวกับที่ทำบนกระดาษตอนบ่ายส่วน 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เทียบกับกระดานทีละบรรทัด "ตาราง users กลายเป็นโฟลเดอร์ users" · พูดว่า "กระดาษแผ่นนี้แหละคือแบบก่อสร้าง ช่วงถัดไปผมจะสร้างของจริงตามแบบนี้เป๊ะ ๆ ห้ามสร้างโดยไม่มีแบบ"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ให้ทุกคนพิมพ์ในแชทว่า "ไม่มี JOIN แปลว่าอะไร" ตอบสั้น ๆ คนละบรรทัด · ถ้ามีคนตอบว่าเชื่อมตารางไม่ได้ ให้ชมแล้วเสริมว่า "และทางแก้คือจดซ้ำ" · แล้วเข้าช่วงที่ 4 ทันที เวลาจะเริ่มกระชั้น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พูดว่า "30 นาทีนี้ผมลงมือทำจริงให้ดูเกือบทั้งช่วง และผมจะใช้วงจร 4 จังหวะที่สอนเมื่อเช้าทุกงาน คุณไม่ต้องพิมพ์ตาม ทุกคำสั่งอยู่ในใบงานบ่ายนี้แล้ว"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พูดว่า "ข้อสามคือของขวัญของ Firebase ครับ หลักสูตรทั่วไปต้องเขียนตัวกลางเองอีกชั้น เราข้ามไปได้ทั้งชั้น" · ถามว่า "ใครเข้า Firebase console ไม่ได้ หรือลืมรหัส พิมพ์ 1 ในแชท" ให้ TA ตามช่วยก่อนบ่าย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ชี้ทีละกล่องจากซ้าย "ผู้ใช้เปิดหน้ารายการ หน้าเว็บไปถามคลัง Firestore ส่งข้อมูลกลับมา แล้วแสดงบนจอ" · หยุดที่กล่องเข้ม "กล่องนี้กล่องเดียวอยู่บนคลาวด์ ที่เหลืออยู่ในเครื่องคุณ ข้อมูลจึงไม่หายตอนปิดเบราว์เซอร์" · ปิดท้าย "สังเกตว่าลูกศรวิ่งทางเดียว วันนี้เราอ่านอย่างเดียว ยังไม่เขียนจากหน้าเว็บ"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แปลศัพท์ CRUD = เพิ่ม ดู แก้ ลบ ข้อมูล · ย้ำหนัก ๆ ว่า "วันนี้ห้ามทำเกินตัว R นะครับ คนที่รีบไปทำปุ่มบันทึกวันนี้ จะไปพังตอนสัปดาห์ที่ 7 ซึ่งมีที่ทางของมันอยู่แล้ว" · ส่วนข้อมูลที่ใส่วันนี้ใช้ตัวช่วยที่เรียกว่า seed ซึ่งอยู่สไลด์ถัดไป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ยังไม่ต้องพูดศัพท์ seed ตรงนี้ เก็บไว้สไลด์ถัดไปที่มีที่อธิบาย · ไล่ทีละกล่อง "หนึ่ง เปิด Firestore ในโหมดทดสอบ · สอง เชื่อมเว็บกับคลัง แล้วใส่ข้อมูลตัวอย่างที่เรียกว่า seed · สาม เปิด Console ส่องด้วยตาว่าข้อมูลเข้าจริง · สี่ ต่อหน้ารายการให้อ่านจากคลังจริง" · หยุดที่กล่องเข้ม "ขั้นที่สามคือขั้นที่คนข้ามแล้วเจ็บที่สุด สร้างเสร็จต้องส่องด้วยตาเสมอ"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พูดว่า "โหมดทดสอบเหมาะกับวันนี้เพราะเรายังไม่มีล็อกอิน แต่มันคือคลังที่ไม่ล็อกกุญแจ ห้ามใส่ข้อมูลจริงของใครเด็ดขาด" · จำนวนวันหมดอายุขึ้นกับ Firebase ตรวจสอบล่าสุดก่อนสอน ตอนสาธิตให้ซูมที่วันหมดอายุแล้วให้ทุกคนจดของตัวเองตอนบ่าย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พูดว่า "เมื่อเช้าผมบอกว่า prompt ต้องสั้น วันนี้มีข้อยกเว้นเดียวคือตอนใส่ข้อมูลตัวอย่าง เพราะต้องระบุชื่อช่องข้อมูลให้ครบทุกตัวจากแบบบนกระดาษ ห้ามให้ AI เดา" · ย้ำว่าใบงานบ่ายนี้เขียนกำกับไว้ตรงจุดนั้นแล้วว่าทำไมยาวได้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พูดช้า ๆ "คำถามที่ทำให้คนจมทั้งบ่ายคือ ไม่รู้ว่าพังตรงไหน · Firebase Console คือหน้าเว็บที่เปิดดูข้อมูลในคลังด้วยตา มันตอบคำถามนี้ใน 10 วินาที ข้อมูลอยู่ในคลังไหม ถ้าอยู่ แปลว่าพังตอนอ่าน ถ้าไม่อยู่ แปลว่าพังตอนใส่"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📍 สคริปต์สาธิต: w6-demo-fixit.md → บล็อก D · จบแล้วกลับเข้าสไลด์หน้า 71 · หยุดที่บรรทัดสองแล้วให้ศัพท์ตรงนี้ครั้งเดียว "คำว่า seed ที่เห็นในเอกสารทุกที่ แปลว่าใส่ข้อมูลตัวอย่างชุดแรกเข้าฐานข้อมูล · ทุกงานในบล็อกนี้เดินด้วยวงจร 4 จังหวะ ให้ผู้เรียนเห็นซ้ำ · ห้ามตัดตอนแก้ข้อมูลใน Console แล้วหน้าเว็บเปลี่ยนตาม เพราะเป็นภาพที่ทำให้เข้าใจคำว่า "อ่านจากฐานจริง"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หลังปิดเบราว์เซอร์แล้วเปิดใหม่ให้เห็นข้อมูลเดิม ให้ห้องพิมพ์ 🎉 ในแชท · พูดว่า "นาทีนี้คือนาทีที่ระบบเปลี่ยนจากภาพนิ่งเป็นระบบที่มีความจำ บ่ายนี้คุณจะได้ความรู้สึกนี้กับโครงงานของตัวเอง"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ถามห้องว่า "ถ้าหน้ารายการว่างเปล่า ขั้นแรกทำอะไร" คำตอบที่ต้องการคือ เปิด Console ดูว่าข้อมูลอยู่ในคลังไหม · ให้ตอบในแชทก่อนไปช่วงสุดท้าย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พูดว่า "ช่วงสุดท้าย 15 นาทีครับ เรากลับมาที่โต๊ะทำงานของ AI ที่เล่าไว้ตอนเช้า — แต่รอบนี้คุณเห็นของจริงมาทั้งเช้าแล้ว" · ถามห้องว่า "ใครสังเกตว่าช่วงท้ายเดโม AI เริ่มตอบช้าลงหรือเริ่มลืมบ้างครับ" รอคำตอบ 2–3 อันก่อนไปต่อ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พูดว่า "จำสามข้อนี้ให้ได้ครับ บ่ายนี้คุณจะเจอเองแน่นอน และผมอยากให้คนที่ไม่ได้พิมพ์เป็นคนจับอาการนี้ให้ห้อง เพราะคนที่พิมพ์จะไม่ทันสังเกต"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ทายก่อนเฉลย — ก่อนเปิดตาราง ถามห้องว่า "ถ้า AI ตอบถูก 70 เปอร์เซ็นต์ตอนข้อความสั้น พอข้อความยาวขึ้นคุณคิดว่าจะเหลือเท่าไร พิมพ์ตัวเลขในแชท" รอ 10 วินาทีแล้วค่อยชี้ตาราง · ประโยคที่ต้องพูดให้ได้ "ที่ผมบอกว่าคุยยาวแล้วมันเริ่มเพี้ยน ไม่ใช่ความรู้สึกผมคนเดียวนะครับ มีคนวัดไว้แล้ว" · ชี้แถวแรก "เขาทดสอบ AI สิบแปดตัว ทั้ง Claude ทั้ง GPT ทั้ง Gemini ผลออกมาเหมือนกันหมด — พอข้อความยาวขึ้น ความแม่นลดลง แม้จะยังไม่เต็มโต๊ะด้วยซ้ำ" · ชี้แถวสอง "ของ Stanford ชัดกว่านั้น พอเอกสารเยอะขึ้น ความแม่นตกจากเจ็ดสิบกว่าเหลือห้าสิบกว่า และข้อมูลที่อยู่ตรงกลางคือส่วนที่หลุดง่ายที่สุด ต้นกับท้ายจำได้ดี" · ปิดด้วยบรรทัดล่าง "เพราะฉะนั้นอย่ารอให้เต็มแล้วค่อยจัดการครับ" · 🔗 ลิงก์ไว้เปิดถ้ามีคนถาม: trychroma.com/research/context-rot และ arxiv.org/abs/2307.03172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พูดว่า "อย่าล้างบทสนทนาทิ้งเฉย ๆ นะครับ เก็บสรุปก่อน ไม่งั้นต้องเล่าใหม่ทั้งหมด" · ย้ำข้อแรก "สรุปที่ AI เขียนก็ต้องตรวจ เหมือนแผน ถ้าขาดข้อตกลงเรื่องชื่อสถานะ บอกกลับไปว่าขาด"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ย้ำข้อแรกให้หนักที่สุด "คำว่าล้างทำให้คนกลัวจนไม่กล้าพิมพ์ ผมยืนยันว่าไฟล์ในโฟลเดอร์ไม่หายสักไฟล์ หายเฉพาะความจำของบทสนทนา" · ให้ทุกคนพิมพ์ในแชทว่าเข้าใจข้อนี้แล้วก่อนไปต่อ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พูดว่า "บางทีเราไม่อยากทิ้งบทสนทนาทั้งอัน คำสั่งนี้ย่อของเก่าให้สั้นลง คืนพื้นที่ความจำ แล้วคุยต่อได้เลย" · ชี้บรรทัดสอง "เติมข้อความต่อท้ายเพื่อบอกว่าให้เก็บเรื่องไหนไว้เป็นพิเศษได้ด้วย"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อ่านทีละแถว แล้วพูดว่า "สามทางนี้ไม่มีทางไหนผิด ต่างกันที่สถานการณ์" · ย้ำแถวกลาง "/compact คือทางตรงกลางที่หลายคนไม่รู้ว่ามี" · ปิดท้ายว่า "บ่ายนี้ขอให้ทุกคนได้ใช้จริงอย่างน้อยหนึ่งครั้ง ใบงานมีจุดให้ใช้"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พูดว่า "โควตาไม่ได้ไม่จำกัดนะครับ คนที่คุยยาวโดยไม่จัดการความจำ จะหมดโควตากลางคาบ ผมเห็นมาทุกรุ่น" · ห้ามบอกว่าทุกคนจะเห็นหน้าตาเดียวกัน เพราะบัญชีต่างประเภทแสดงต่างกัน ให้เปิดดูเองแล้วจด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ถามสด ๆ ว่า "ใครบอกสัญญาณสักหนึ่งข้อได้บ้าง พิมพ์ในแชทเลยครับ" รอ 20 วินาที แล้วเข้าช่วงปิดคาบ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บอกว่า "เหลือ 10 นาที มีสามเรื่องต้องประกาศ ห้ามใครออกก่อนนะครับ มีของที่ต้องส่งสัปดาห์นี้"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ย้ำว่า "ส่ง URL อย่างเดียวครับ ไม่ต้องแนบไฟล์ ผมเปิด GitHub ตรวจเอง" · อธิบายว่าบ่ายนี้จะกดปุ่ม Fork ก๊อปปี้ repo LeaveEasy มาไว้ในบัญชีตัวเอง แล้วทุก commit จะอยู่ที่นั่น · ย้ำ "ผมดูประวัติได้ว่าใครพิมพ์บ้าง คนที่ไม่มี commit ในชื่อตัวเองถือว่าไม่ผ่าน"  · ย้ำว่าไม่ต้องเก็บภาพหน้าจอเข้า repo ผมตรวจจากโค้ดกับเว็บของคุณเอง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ชี้ทีละแถวแล้วปิดด้วยคำถามประจำหลักสูตร "FixIt มี tickets · LeaveEasy มี leaveRequests · แล้วหัวข้อของคุณ โฟลเดอร์หลักคืออะไร" ให้ทุกคนพิมพ์คำตอบในแชทก่อนพักเที่ยง · ย้ำว่าช่องขวาสุดต้องเติมเองบนกระดาษตอนบ่าย ห้ามลอกช่องกลาง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ชี้แถว B แล้วพูดว่า "ส่วน B ปิดคอมนะครับ เขียนลงกระดาษ เพราะแบบที่คิดไม่เสร็จ สร้างยังไงก็พัง" · ย้ำว่าบ่ายนี้ทุกคนทำ LeaveEasy เหมือนกันหมด แล้วการบ้านทำซ้ำกับหัวข้อของตัวเอง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ย้ำข้อสองให้หนักที่สุด "ขั้น A2 บ่ายนี้จะมีหน้าต่างของ GitHub เด้งขึ้นมาให้ล็อกอิน กด Sign in with your browser แล้ว Authorize ครับ ทำครั้งเดียวใช้ได้ทั้งสี่สัปดาห์ · ห้ามพิมพ์รหัสผ่านหรือโทเคนลงในช่องแชทของ Claude เด็ดขาด ถ้า terminal ขอ username กับ password ให้กด Ctrl C ยกเลิกแล้วเรียก TA" · บอกล่วงหน้าเลยว่า "ตอนนั้นจอ Claude จะนิ่งเหมือนค้างนะครับ มันรอคุณกดอยู่ · ถ้าไม่เห็นหน้าต่าง กด Alt Tab มันไปซ่อนหลังจออื่น · กดเสร็จแล้วครั้งต่อ ๆ ไป Claude ส่งขึ้น GitHub ให้เองเงียบ ๆ คุณยังสั่ง git เป็นภาษาไทยได้เหมือนเดิมทุกอย่าง" · ให้ทุกคนเปิด github.com ล็อกอินค้างไว้ตั้งแต่ตอนพักเที่ยง จะได้ไม่ติดพร้อมกันทั้งห้อง · ย้ำข้อสามว่า "คนที่ไม่มี commit เลยตลอด Module ถือว่าไม่ผ่าน แม้ระบบจะทำงานได้" · อธิบายข้อสาม "ผ่าน Checkpoint แล้วพิมพ์บอกในแชทจากเครื่องคุณเอง ไม่ใช่รอคนนำจอบอกแทน" · วางลิงก์ตารางห้องย่อยในแชทตอนนี้เลย แล้วให้ทุกคนเปิดดูว่าตัวเองอยู่ห้องไหน ก่อนพักเที่ยง จะได้ไม่เสียเวลาหาห้องตอน 13:00 · บอกว่าคิวถามกลางและธนาคารคำตอบสด ลิงก์อยู่ในแชทแล้ว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ปิดด้วย "พักกินข้าวให้อิ่มครับ บ่ายนี้ระบบของคุณจะเริ่มมีความจำจริง ๆ ใครกลับมาเร็ว เปิดใบงานอ่านล่วงหน้าได้เลย ลิงก์อยู่ในแชทแล้ว อย่าลืมเตรียมกระดาษกับปากกาไว้คนละแผ่นสำหรับส่วน B"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F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4577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Setup + Firestore — ระบบเริ่มมีความจำ</a:t>
            </a:r>
          </a:p>
          <a:p>
            <a:pPr>
              <a:spcBef>
                <a:spcPts val="1400"/>
              </a:spcBef>
            </a:pPr>
            <a:r>
              <a:rPr sz="22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ADT-RAISE Batch 2 · Module 2 · สัปดาห์ที่ 6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29 สิงหาคม 2569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45775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ช่วงที่ 0 — เปิดคาบ · 🧠 AI และ coding agent ทำงานยังไง ⏱ 09:00–09:31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👋 ผู้สอนของ Module นี้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884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รศ. ดร. นชา ชลดำรงค์กุล — คณบดีสำนักวิชาเทคโนโลยีดิจิทัลประยุกต์ มฟล.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11984"/>
            <a:ext cx="10545775" cy="884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✈️💊📡🏦 เคยทำระบบให้หลายวงการ — สายการบิน · ยา · โทรคมนาคม · ธนาคาร · สุขภาพ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51784"/>
            <a:ext cx="10545775" cy="884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🎓 ปริญญาเอกด้านคอมพิวเตอร์ University of Auckland ประเทศนิวซีแลนด์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91584"/>
            <a:ext cx="10545775" cy="884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🚀 สนใจ startup และการสร้างของใหม่ · 🤖 วิจัยเรื่องให้ AI ช่วยเขียนโค้ด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231384"/>
            <a:ext cx="10545775" cy="884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📮 nacha.cho@mfu.ac.th · ประวัติเต็มที่หน้า ผู้สอน ในเว็บคลังสื่อ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ปัญหาของ prototype ที่คุณถืออยู่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🖼️ prototype (หน้าเว็บตัวอย่างที่กดดูได้) จาก Module 1 เป็น ภาพนิ่ง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56256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กรอกอะไรลงไป รีเฟรชแล้วหายหมด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71444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เพราะยังไม่มี ฐานข้อมูล (คลังเก็บข้อมูลที่อยู่ต่อแม้ปิดเบราว์เซอร์)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55516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🎯 วันนี้เราต่อคลังเก็บข้อมูลให้ระบบของคุณ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45775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ระบบเริ่มมีความจำ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วันนี้คุณจะได้ 4 อย่างกลับไป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📁 Repo (โฟลเดอร์โครงงานที่มีปุ่มเซฟย้อนได้) ที่รันเว็บของคุณได้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56256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📝 แบบโครงสร้างข้อมูลบนกระดาษ 1 แผ่น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71444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🗄️ Firestore (คลังเก็บข้อมูลบนคลาวด์) ที่มีข้อมูลจริงอยู่ข้างใน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55516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🖥️ หน้ารายการที่อ่านข้อมูลจากคลังจริง ไม่ใช่ของปลอมในโค้ด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45775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สิ่งที่คุณไม่ต้องรู้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5 อย่างที่คุณไม่ต้องรู้ใน Module นี้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❌ ไม่ต้องเขียนโค้ดเองจากศูนย์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87372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❌ ไม่ต้องท่องคำสั่ง เปิดใบงานดูได้ตลอด · ลืมเมื่อไรพิมพ์ /help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7144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❌ ไม่ต้องรู้ว่าทุกไฟล์ทำอะไร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8663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❌ ไม่ต้องเข้าใจเบื้องหลังของ Firebase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01820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❌ ไม่ต้องจำศัพท์อังกฤษ มีแผ่นคำแปลให้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เส้นทาง 4 สัปดาห์ของ Module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472184"/>
            <a:ext cx="10545775" cy="1609344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l"/>
            <a:r>
              <a:rPr sz="18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สัปดาห์ที่ 6  prototype จาก M1 →  Repo + Firestore มีข้อมูล + หน้ารายการอ่านจริง  ← วันนี้</a:t>
            </a:r>
          </a:p>
          <a:p>
            <a:pPr algn="l"/>
            <a:r>
              <a:rPr sz="18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สัปดาห์ที่ 7  อ่านได้อย่างเดียว →  เพิ่ม/แก้/ลบครบ + ล็อกอิน + ขึ้นออนไลน์</a:t>
            </a:r>
          </a:p>
          <a:p>
            <a:pPr algn="l"/>
            <a:r>
              <a:rPr sz="18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สัปดาห์ที่ 8  ระบบออนไลน์      →  ปิดข้อมูล + ผู้ช่วย AI + Reviewer</a:t>
            </a:r>
          </a:p>
          <a:p>
            <a:pPr algn="l"/>
            <a:r>
              <a:rPr sz="18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สัปดาห์ที่ 9  ระบบที่ใช้ได้      →  ทดสอบอัตโนมัติ + ปิด Module (คลิป + Consult)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แผนที่ของ 3 ชั่วโมงนี้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472184"/>
            <a:ext cx="10545775" cy="285292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l"/>
            <a:r>
              <a:rPr sz="18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09:00  เปิดคาบ · 🧠 AI ทำงานยังไง + coding agent คืออะไร</a:t>
            </a:r>
          </a:p>
          <a:p>
            <a:pPr algn="l"/>
            <a:r>
              <a:rPr sz="18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09:31  เครื่องมือพื้นฐาน — ทบทวน Git · นำ prototype เข้า repo</a:t>
            </a:r>
          </a:p>
          <a:p>
            <a:pPr algn="l"/>
            <a:r>
              <a:rPr sz="18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09:50  วงจร 4 จังหวะ ⭐ วิธีสั่งงาน AI ทั้ง Module</a:t>
            </a:r>
          </a:p>
          <a:p>
            <a:pPr algn="l"/>
            <a:r>
              <a:rPr sz="18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10:23  ☕ พัก 10 นาที</a:t>
            </a:r>
          </a:p>
          <a:p>
            <a:pPr algn="l"/>
            <a:r>
              <a:rPr sz="18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10:33  NoSQL — ฐานข้อมูลแบบโฟลเดอร์และไฟล์</a:t>
            </a:r>
          </a:p>
          <a:p>
            <a:pPr algn="l"/>
            <a:r>
              <a:rPr sz="18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11:05  สร้าง Firestore จริง ⭐</a:t>
            </a:r>
          </a:p>
          <a:p>
            <a:pPr algn="l"/>
            <a:r>
              <a:rPr sz="18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11:35  จัดการความจำของ AI</a:t>
            </a:r>
          </a:p>
          <a:p>
            <a:pPr algn="l"/>
            <a:r>
              <a:rPr sz="18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11:50  ปิดคาบ → Workshop บ่าย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🧪 ตัวละคร 3 ตัว — เปิดดูต้นแบบก่อน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🎬 FixIt ระบบแจ้งซ่อม — ผู้สอนสาธิตตอนเช้า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8737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🔧 LeaveEasy ระบบขอลา — ทุกคนลงมือในใบงานบ่ายนี้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02560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👤 หัวข้อของคุณจาก Hackathon — คุณลงมือในการบ้าน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17748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เปิดดูสองตัวแรก: cnacha-mfu.github.io/raise2-module2/materials/shared/prototypes/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01820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ลองกรอกใบใหม่แล้วกดรีเฟรช — ข้อมูลหายหมด 👉 นั่นคือสิ่งที่เราจะแก้วันนี้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LLM สร้างมาอย่างไร แล้วเราใช้ตอนไหน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563624"/>
            <a:ext cx="10545775" cy="1508760"/>
          </a:xfrm>
          <a:prstGeom prst="roundRect">
            <a:avLst/>
          </a:prstGeom>
          <a:solidFill>
            <a:srgbClr val="FDECEC"/>
          </a:solidFill>
          <a:ln w="19050"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87552" y="1636776"/>
            <a:ext cx="1021659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9534F"/>
                </a:solidFill>
                <a:latin typeface="Leelawadee UI"/>
                <a:ea typeface="Leelawadee UI"/>
                <a:cs typeface="Leelawadee UI"/>
              </a:rPr>
              <a:t>🏭 ตอนสร้าง · ทำครั้งเดียว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" y="1984248"/>
            <a:ext cx="3088538" cy="996696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อ่านข้อความมหาศาล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213615" y="2333092"/>
            <a:ext cx="291876" cy="299008"/>
          </a:xfrm>
          <a:prstGeom prst="rightArrow">
            <a:avLst/>
          </a:prstGeom>
          <a:solidFill>
            <a:srgbClr val="7A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51578" y="1984248"/>
            <a:ext cx="3088538" cy="996696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จำรูปแบบที่เจอบ่อย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686201" y="2333092"/>
            <a:ext cx="291876" cy="299008"/>
          </a:xfrm>
          <a:prstGeom prst="rightArrow">
            <a:avLst/>
          </a:prstGeom>
          <a:solidFill>
            <a:srgbClr val="7A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24164" y="1984248"/>
            <a:ext cx="3088538" cy="996696"/>
          </a:xfrm>
          <a:prstGeom prst="roundRect">
            <a:avLst/>
          </a:prstGeom>
          <a:solidFill>
            <a:srgbClr val="1F5FA8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ได้โมเดล 1 ก้อน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273552"/>
            <a:ext cx="10545775" cy="1508760"/>
          </a:xfrm>
          <a:prstGeom prst="roundRect">
            <a:avLst/>
          </a:prstGeom>
          <a:solidFill>
            <a:srgbClr val="FDECEC"/>
          </a:solidFill>
          <a:ln w="19050"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87552" y="3346704"/>
            <a:ext cx="1021659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9534F"/>
                </a:solidFill>
                <a:latin typeface="Leelawadee UI"/>
                <a:ea typeface="Leelawadee UI"/>
                <a:cs typeface="Leelawadee UI"/>
              </a:rPr>
              <a:t>💬 ตอนใช้ · ทุกครั้งที่พิมพ์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8992" y="3694176"/>
            <a:ext cx="3088538" cy="996696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ส่งข้อความไปให้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213615" y="4043020"/>
            <a:ext cx="291876" cy="299008"/>
          </a:xfrm>
          <a:prstGeom prst="rightArrow">
            <a:avLst/>
          </a:prstGeom>
          <a:solidFill>
            <a:srgbClr val="7A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51578" y="3694176"/>
            <a:ext cx="3088538" cy="996696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โมเดลเดาคำตอบ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686201" y="4043020"/>
            <a:ext cx="291876" cy="299008"/>
          </a:xfrm>
          <a:prstGeom prst="rightArrow">
            <a:avLst/>
          </a:prstGeom>
          <a:solidFill>
            <a:srgbClr val="7A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24164" y="3694176"/>
            <a:ext cx="3088538" cy="996696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ส่งกลับมาหาเรา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45775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🙋 "วันนี้อากาศ ______" · คำถัดไปคืออะไร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AI ไม่ได้ "รู้" — มันเดาคำถัดไป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พิมพ์ว่า "วันนี้อากาศ" → AI เดาว่าคำถัดไปคือ "ดี"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87372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มันไม่ได้เข้าใจอากาศ — มันเคยอ่านประโยคแบบนี้มาเป็นล้านครั้ง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7144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เดาทีละคำต่อกันไปเรื่อย ๆ จนได้คำตอบทั้งย่อหน้า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86632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📌 โค้ดก็คือข้อความแบบหนึ่ง — มันจึงเขียนโค้ดด้วยวิธีเดียวกันนี้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เดาเก่ง ไม่เท่ากับ รู้จริง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เดาถูก → คำตอบดูฉลาดมาก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8737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เดาผิด → ตอบมั่ว ด้วยน้ำเสียงมั่นใจเท่ากันเป๊ะ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02560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ศัพท์ทางการเรียกอาการนี้ว่า Hallucination (แต่งเรื่องขึ้นมาเอง)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86632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👉 นี่คือเหตุผลข้อแรกที่เรา ตรวจแผนก่อนให้มันลงมือ เสมอ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7070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🙋 ใครเคยเจอ AI ตอบมั่วแบบมั่นใจบ้าง — พิมพ์ ✋ ในแชท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โทเคน — AI หั่นข้อความเป็นชิ้นก่อนอ่าน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957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AI ไม่ได้อ่านเป็นคำแบบเรา — หั่นเป็นชิ้นเล็ก ๆ เรียกว่า โทเคน (token)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84120"/>
            <a:ext cx="10545775" cy="957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นับเป็นโทเคนหมด: ที่คุณพิมพ์ · ไฟล์ที่มันเปิด · คำตอบที่มันเขียน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96056"/>
            <a:ext cx="10545775" cy="957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ภาษาไทยถูกหั่นละเอียดกว่าอังกฤษ ประโยคเท่ากันเรากินโทเคนมากกว่า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07992"/>
            <a:ext cx="10545775" cy="957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💰 โทเคนคือหน่วยคิดเงิน เหมือนค่าน้ำค่าไฟ ใช้เท่าไรจ่ายเท่านั้น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519928"/>
            <a:ext cx="10545775" cy="52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🙋 ทายก่อน: ประโยคยาวเท่ากัน ไทยหรืออังกฤษกินโทเคนมากกว่า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Context = โต๊ะทำงานของ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563624"/>
            <a:ext cx="2348407" cy="1051560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คำสั่งของคุณ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217452" y="1931670"/>
            <a:ext cx="291876" cy="315468"/>
          </a:xfrm>
          <a:prstGeom prst="rightArrow">
            <a:avLst/>
          </a:prstGeom>
          <a:solidFill>
            <a:srgbClr val="7A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555415" y="1563624"/>
            <a:ext cx="2348407" cy="1051560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ไฟล์ที่มันเปิด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949907" y="1931670"/>
            <a:ext cx="291876" cy="315468"/>
          </a:xfrm>
          <a:prstGeom prst="rightArrow">
            <a:avLst/>
          </a:prstGeom>
          <a:solidFill>
            <a:srgbClr val="7A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87870" y="1563624"/>
            <a:ext cx="2348407" cy="1051560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บทสนทนาทั้งหมด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682362" y="1931670"/>
            <a:ext cx="291876" cy="315468"/>
          </a:xfrm>
          <a:prstGeom prst="rightArrow">
            <a:avLst/>
          </a:prstGeom>
          <a:solidFill>
            <a:srgbClr val="7A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020325" y="1563624"/>
            <a:ext cx="2348407" cy="1051560"/>
          </a:xfrm>
          <a:prstGeom prst="roundRect">
            <a:avLst/>
          </a:prstGeom>
          <a:solidFill>
            <a:srgbClr val="1F5FA8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โต๊ะมีขนาดจำกัด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45775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🙋 โต๊ะเต็มแล้ว ของชิ้นไหนตกก่อน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โต๊ะเต็มแล้ว — ของชิ้นไหนตกก่อน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คุยกันยาว ๆ โต๊ะจะเต็ม ของเก่าถูกดันตกโต๊ะไป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8737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⚠️ ชิ้นแรกที่ตก มักเป็น ข้อตกลงที่เราคุยกันไว้ตอนต้น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02560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จู่ ๆ AI ก็ "ลืม" กติกาที่มันเคยทำถูกมาตลอด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17748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📌 มันไม่ได้ดื้อ — ข้อตกลงมันตกโต๊ะไปแล้ว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45775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🙋 ที่ผ่านมาคุณใช้ AI แบบไหน · พิมพ์ 1 หรือ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จากแชทตอบคำถาม สู่ coding agent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563624"/>
            <a:ext cx="10545775" cy="1508760"/>
          </a:xfrm>
          <a:prstGeom prst="roundRect">
            <a:avLst/>
          </a:prstGeom>
          <a:solidFill>
            <a:srgbClr val="FDECEC"/>
          </a:solidFill>
          <a:ln w="19050"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87552" y="1636776"/>
            <a:ext cx="1021659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9534F"/>
                </a:solidFill>
                <a:latin typeface="Leelawadee UI"/>
                <a:ea typeface="Leelawadee UI"/>
                <a:cs typeface="Leelawadee UI"/>
              </a:rPr>
              <a:t>💬 แชทธรรมดา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" y="1984248"/>
            <a:ext cx="3088538" cy="996696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เราถาม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213615" y="2333092"/>
            <a:ext cx="291876" cy="299008"/>
          </a:xfrm>
          <a:prstGeom prst="rightArrow">
            <a:avLst/>
          </a:prstGeom>
          <a:solidFill>
            <a:srgbClr val="7A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51578" y="1984248"/>
            <a:ext cx="3088538" cy="996696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มันตอบเป็นข้อความ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686201" y="2333092"/>
            <a:ext cx="291876" cy="299008"/>
          </a:xfrm>
          <a:prstGeom prst="rightArrow">
            <a:avLst/>
          </a:prstGeom>
          <a:solidFill>
            <a:srgbClr val="7A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24164" y="1984248"/>
            <a:ext cx="3088538" cy="996696"/>
          </a:xfrm>
          <a:prstGeom prst="roundRect">
            <a:avLst/>
          </a:prstGeom>
          <a:solidFill>
            <a:srgbClr val="1F5FA8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เราคัดลอกไปวางเอง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273552"/>
            <a:ext cx="10545775" cy="1508760"/>
          </a:xfrm>
          <a:prstGeom prst="roundRect">
            <a:avLst/>
          </a:prstGeom>
          <a:solidFill>
            <a:srgbClr val="FDECEC"/>
          </a:solidFill>
          <a:ln w="19050"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87552" y="3346704"/>
            <a:ext cx="1021659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9534F"/>
                </a:solidFill>
                <a:latin typeface="Leelawadee UI"/>
                <a:ea typeface="Leelawadee UI"/>
                <a:cs typeface="Leelawadee UI"/>
              </a:rPr>
              <a:t>🤖 coding agent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8992" y="3694176"/>
            <a:ext cx="3088538" cy="996696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เราบอกเป้าหมาย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213615" y="4043020"/>
            <a:ext cx="291876" cy="299008"/>
          </a:xfrm>
          <a:prstGeom prst="rightArrow">
            <a:avLst/>
          </a:prstGeom>
          <a:solidFill>
            <a:srgbClr val="7A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51578" y="3694176"/>
            <a:ext cx="3088538" cy="996696"/>
          </a:xfrm>
          <a:prstGeom prst="roundRect">
            <a:avLst/>
          </a:prstGeom>
          <a:solidFill>
            <a:srgbClr val="1F5FA8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มันลงมือในเครื่องเรา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686201" y="4043020"/>
            <a:ext cx="291876" cy="299008"/>
          </a:xfrm>
          <a:prstGeom prst="rightArrow">
            <a:avLst/>
          </a:prstGeom>
          <a:solidFill>
            <a:srgbClr val="7A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24164" y="3694176"/>
            <a:ext cx="3088538" cy="996696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เราตรวจ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coding agent ทำอะไรได้บ้าง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488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📂 เปิดอ่านไฟล์ในโปรเจกต์เราเองทั้งโฟลเดอร์ ไม่ต้องคัดลอกไปวาง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5236"/>
            <a:ext cx="10545775" cy="488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✏️ แก้ไฟล์หลายไฟล์พร้อมกัน ให้สอดคล้องกัน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58288"/>
            <a:ext cx="10545775" cy="884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▶️ รันคำสั่งแล้วอ่านผลเอง — เจอ error ก็แก้ต่อโดยไม่ต้องถามเรา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98088"/>
            <a:ext cx="10545775" cy="884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🌐 ทำงานกับบริการภายนอกได้ เช่น สร้างฐานข้อมูล นำเว็บขึ้นออนไลน์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37888"/>
            <a:ext cx="10545775" cy="488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🔍 สั่งให้ตรวจงานตัวเองได้ — สัปดาห์ที่ 8 กับ 9 เราจะใช้ข้อนี้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980940"/>
            <a:ext cx="10545775" cy="488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🙋 ข้อไหนที่หน้าเว็บแชทธรรมดาทำไม่ได้เลย — พิมพ์เลขข้อในแชท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ใครเป็นคนสร้าง LLM พวกนี้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472184"/>
          <a:ext cx="1054577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5258"/>
                <a:gridCol w="3515258"/>
                <a:gridCol w="3515259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บริษัท</a:t>
                      </a:r>
                    </a:p>
                  </a:txBody>
                  <a:tcPr marL="91440" marR="91440" marT="27432" marB="27432" anchor="ctr"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โมเดล</a:t>
                      </a:r>
                    </a:p>
                  </a:txBody>
                  <a:tcPr marL="91440" marR="91440" marT="27432" marB="27432" anchor="ctr"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แบบไหน</a:t>
                      </a:r>
                    </a:p>
                  </a:txBody>
                  <a:tcPr marL="91440" marR="91440" marT="27432" marB="27432" anchor="ctr">
                    <a:solidFill>
                      <a:srgbClr val="1F5FA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Anthropic 🇺🇸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Claude ⭐ คอร์สนี้ใช้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🔒 เรียกผ่านเน็ต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OpenAI 🇺🇸 · Google 🇺🇸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GPT · Gemini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🔒 เรียกผ่านเน็ต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Meta 🇺🇸 · Alibaba 🇨🇳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Llama · Qwen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🔓 โหลดมารันเองได้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DeepSeek 🇨🇳 · Mistral 🇫🇷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DeepSeek · Mistral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🔓 โหลดมารันเองได้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เครื่องมือที่คนใช้กันตอนนี้ — เปลี่ยนได้ วิธีคิดไม่เปลี่ยน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2075688"/>
          <a:ext cx="1054577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2887"/>
                <a:gridCol w="5272888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เครื่องมือ</a:t>
                      </a:r>
                    </a:p>
                  </a:txBody>
                  <a:tcPr marL="91440" marR="91440" marT="27432" marB="27432" anchor="ctr"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ใช้ที่ไหน</a:t>
                      </a:r>
                    </a:p>
                  </a:txBody>
                  <a:tcPr marL="91440" marR="91440" marT="27432" marB="27432" anchor="ctr">
                    <a:solidFill>
                      <a:srgbClr val="1F5FA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Claude Code ⭐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พิมพ์คำสั่ง (terminal) — คอร์สนี้ใช้ตัวนี้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GitHub Copilot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ในโปรแกรมเขียนโค้ด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Cursor · Windsurf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โปรแกรมเขียนโค้ดที่มี AI ในตัว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Gemini CLI · Codex CLI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พิมพ์คำสั่ง เหมือน Claude Code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4773168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🙋 เคยได้ยินหรือเคยใช้ตัวไหนบ้าง พิมพ์ชื่อในแชท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45775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ช่วงที่ 1 — เครื่องมือพื้นฐาน ⏱ 09:31–09:50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ของที่ถือมาจาก Module 1 — วันนี้ใช้ครบ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🖼️ เว็บ prototype ที่รันได้ ⭐ — บ่ายนี้นำเข้า repo ทันที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56256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📝 DB Schema (แบบโครงสร้างข้อมูล) — ใช้ช่วง NoSQL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7144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🔥 Firebase project ที่สมัครไว้แล้วสัปดาห์ที่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8663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👥 หัวข้อเดิมจาก Hackathon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01820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🤖 เครื่องมืออื่นที่เครื่องต้องมี — ให้ Claude ตรวจและติดตั้งให้ ไม่ต้องจำชื่อ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45775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ทบทวน Git 15 นาที — ของเดิมจาก Module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commit — ปุ่มเซฟที่ย้อนกลับได้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commit = กดเซฟหนึ่งครั้ง พร้อมเขียนกำกับว่าทำอะไรไป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8737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ทุก commit คือหมุดที่ย้อนกลับมายืนได้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02560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AI แก้เร็วและบางครั้งแก้พัง — มีหมุดจึงกล้าปล่อยให้แก้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8663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🎯 กติกาทั้งเดือน: ทำอะไรสำเร็จ → commit ทันที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ถ้า AI แก้แล้วพัง — ตาข่ายรับ 2 ชั้น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472184"/>
            <a:ext cx="10545775" cy="98755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l"/>
            <a:r>
              <a:rPr sz="18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Esc          หยุด Claude กลางคัน</a:t>
            </a:r>
          </a:p>
          <a:p>
            <a:pPr algn="l"/>
            <a:r>
              <a:rPr sz="18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Esc Esc      เปิดเมนูย้อนกลับ เลือกจุดที่จะย้อน (/rewind ได้ผลเดียวกัน)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642616"/>
            <a:ext cx="10545775" cy="1078992"/>
          </a:xfrm>
          <a:prstGeom prst="roundRect">
            <a:avLst/>
          </a:prstGeom>
          <a:solidFill>
            <a:srgbClr val="FFF7E6"/>
          </a:solidFill>
          <a:ln w="22225">
            <a:solidFill>
              <a:srgbClr val="E0A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822960" y="2642616"/>
            <a:ext cx="100584" cy="1078992"/>
          </a:xfrm>
          <a:prstGeom prst="roundRect">
            <a:avLst/>
          </a:prstGeom>
          <a:solidFill>
            <a:srgbClr val="E0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697480"/>
            <a:ext cx="1008857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86C0A"/>
                </a:solidFill>
                <a:latin typeface="Leelawadee UI"/>
                <a:ea typeface="Leelawadee UI"/>
                <a:cs typeface="Leelawadee UI"/>
              </a:rPr>
              <a:t>💬 ชั้นที่ 2 — พิมพ์บอก Claude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26664"/>
            <a:ext cx="100885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ช่วยย้อนไฟล์ทั้งหมดกลับไปหมุดล่าสุดให้ผม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22776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🥅 ชั้นที่ 1 — Esc Esc ใช้ตอนรู้ตัวทันทีว่าคำสั่งเมื่อกี้ไม่ใช่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06848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🥅 ชั้นที่ 2 — บอก Claude ให้ย้อน ใช้ได้เสมอ แม้ปิดหน้าต่างหรือพังข้ามวัน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นำ prototype เข้าโครงโปรเจกต์ — 4 ขั้น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472184"/>
            <a:ext cx="10545775" cy="1609344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l"/>
            <a:r>
              <a:rPr sz="18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1) สร้างโฟลเดอร์ใหม่ → คัดลอกไฟล์ prototype ทั้งหมดเข้าไป</a:t>
            </a:r>
          </a:p>
          <a:p>
            <a:pPr algn="l"/>
            <a:r>
              <a:rPr sz="18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2) บอก Claude ให้เริ่มเก็บประวัติ แล้วปักหมุดแรก</a:t>
            </a:r>
          </a:p>
          <a:p>
            <a:pPr algn="l"/>
            <a:r>
              <a:rPr sz="18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3) บอก Claude ว่า "ช่วยเปิดเว็บนี้ให้ผมดูในเบราว์เซอร์"</a:t>
            </a:r>
          </a:p>
          <a:p>
            <a:pPr algn="l"/>
            <a:r>
              <a:rPr sz="18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4) เปิดเบราว์เซอร์ → เห็นหน้าเว็บเดิมของเรา ขึ้นจาก repo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82735" y="10972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8A5400"/>
                </a:solidFill>
                <a:latin typeface="Leelawadee UI"/>
                <a:ea typeface="Leelawadee UI"/>
                <a:cs typeface="Leelawadee UI"/>
              </a:rPr>
              <a:t>🎬 สลับไปหน้าจอสาธิตสด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545775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8A5400"/>
                </a:solidFill>
                <a:latin typeface="Leelawadee UI"/>
                <a:ea typeface="Leelawadee UI"/>
                <a:cs typeface="Leelawadee UI"/>
              </a:rPr>
              <a:t>🎬 ดูของจริง — นำ prototype ของ FixIt เข้า repo ⏱ 10 นาที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75688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FixIt ก็มี prototype จาก Module 1 เหมือนคุณ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90876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คัดลอกเข้าโฟลเดอร์ใหม่ → บอก Claude ให้เริ่มเก็บประวัติ + ปักหมุดแรก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74948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บอก Claude ว่า "ช่วยเปิดเว็บนี้ให้ผมดูในเบราว์เซอร์"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390136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เห็นหน้าเว็บ FixIt ขึ้นในเบราว์เซอร์ — ข้อมูลยังเป็นของปลอม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✅ ช่วงที่ 1 คุณต้องได้อะไรกลับไป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รู้ว่าเครื่องมือที่เครื่องต้องมี ให้ Claude ติดตั้งให้ได้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56256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บอกได้ว่า commit คือปุ่มเซฟที่ย้อนได้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7144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รู้ว่ามีตาข่าย 2 ชั้น — Esc Esc และ git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8663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เห็นแล้วว่านำ prototype เข้า repo ทำอย่างไร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45775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ช่วงที่ 2 — 🔁 วงจร 4 จังหวะ ⭐ ⏱ 09:50–10:23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Module 1 กับ Module 2 ต่างกันตรงไหน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Module 1: แชทกับ AI → ได้ข้อความ → เราคัดลอกเอง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8737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Module 2: Claude Code อ่านและแก้ไฟล์จริงในเครื่องเรา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02560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ไม่ต้องคัดลอกไปวางอีกแล้ว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17748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⚠️ แปลว่ามันแก้ของจริงได้ ทั้งดีและพัง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45775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สั่งสั้น → AI เขียนแผน → เราตรวจแผน → ลงมือทีละข้อ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วงจร 4 จังหวะของการสั่งงาน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563624"/>
            <a:ext cx="2348407" cy="1051560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สั่งสั้น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217452" y="1931670"/>
            <a:ext cx="291876" cy="315468"/>
          </a:xfrm>
          <a:prstGeom prst="rightArrow">
            <a:avLst/>
          </a:prstGeom>
          <a:solidFill>
            <a:srgbClr val="7A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555415" y="1563624"/>
            <a:ext cx="2348407" cy="1051560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AI เขียนแผน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949907" y="1931670"/>
            <a:ext cx="291876" cy="315468"/>
          </a:xfrm>
          <a:prstGeom prst="rightArrow">
            <a:avLst/>
          </a:prstGeom>
          <a:solidFill>
            <a:srgbClr val="7A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87870" y="1563624"/>
            <a:ext cx="2348407" cy="1051560"/>
          </a:xfrm>
          <a:prstGeom prst="roundRect">
            <a:avLst/>
          </a:prstGeom>
          <a:solidFill>
            <a:srgbClr val="1F5FA8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เราตรวจแผน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682362" y="1931670"/>
            <a:ext cx="291876" cy="315468"/>
          </a:xfrm>
          <a:prstGeom prst="rightArrow">
            <a:avLst/>
          </a:prstGeom>
          <a:solidFill>
            <a:srgbClr val="7A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020325" y="1563624"/>
            <a:ext cx="2348407" cy="1051560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สั่งลงมือทีละข้อ</a:t>
            </a:r>
          </a:p>
        </p:txBody>
      </p:sp>
      <p:sp>
        <p:nvSpPr>
          <p:cNvPr id="10" name="Left Arrow 9"/>
          <p:cNvSpPr/>
          <p:nvPr/>
        </p:nvSpPr>
        <p:spPr>
          <a:xfrm>
            <a:off x="822960" y="2761488"/>
            <a:ext cx="10545775" cy="292608"/>
          </a:xfrm>
          <a:prstGeom prst="leftArrow">
            <a:avLst/>
          </a:prstGeom>
          <a:solidFill>
            <a:srgbClr val="7A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วนกลับไปทำรอบต่อไป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ทำไมต้องขอแผนก่อน — 3 เหตุผล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⭐ เขียน prompt ยาวให้ครบถ้วน เป็นเรื่องยากสำหรับทุกคน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56256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⭐ แต่อ่านแผนแล้วบอกว่าข้อไหนไม่ใช่ ทุกคนทำได้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71444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ผิดตั้งแต่แผน แก้ 1 บรรทัด · ผิดตอนโค้ดเสร็จ ต้องรื้อ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55516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แผนที่ AI เขียน คือคำอธิบายสิ่งที่กำลังจะเกิดขึ้น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ตัวอย่างวงจรจริง (1) — จังหวะที่ 1 และ 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075688"/>
            <a:ext cx="10545775" cy="1463040"/>
          </a:xfrm>
          <a:prstGeom prst="roundRect">
            <a:avLst/>
          </a:prstGeom>
          <a:solidFill>
            <a:srgbClr val="FFF7E6"/>
          </a:solidFill>
          <a:ln w="22225">
            <a:solidFill>
              <a:srgbClr val="E0A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22960" y="2075688"/>
            <a:ext cx="100584" cy="1463040"/>
          </a:xfrm>
          <a:prstGeom prst="roundRect">
            <a:avLst/>
          </a:prstGeom>
          <a:solidFill>
            <a:srgbClr val="E0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30552"/>
            <a:ext cx="1008857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86C0A"/>
                </a:solidFill>
                <a:latin typeface="Leelawadee UI"/>
                <a:ea typeface="Leelawadee UI"/>
                <a:cs typeface="Leelawadee UI"/>
              </a:rPr>
              <a:t>💬 จังหวะที่ 1 — ขอแผนก่อน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59736"/>
            <a:ext cx="10088575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หน้ารายการใบแจ้งซ่อมใน prototype คอลัมน์ยังไม่ตรง DB Schema</a:t>
            </a:r>
          </a:p>
          <a:p>
            <a:pPr algn="l">
              <a:spcAft>
                <a:spcPts val="0"/>
              </a:spcAft>
            </a:pPr>
            <a:r>
              <a:rPr sz="20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ช่วยเขียนแผนปรับให้ผมดูก่อน อย่าเพิ่งลงมือ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739896"/>
            <a:ext cx="10545775" cy="1609344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l"/>
            <a:r>
              <a:rPr sz="18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แผนที่ AI ตอบกลับ (จังหวะที่ 2 — ยังไม่มีโค้ด)</a:t>
            </a:r>
          </a:p>
          <a:p>
            <a:pPr algn="l"/>
            <a:r>
              <a:rPr sz="18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1. เพิ่มคอลัมน์ สถานะ และ วันที่แจ้ง</a:t>
            </a:r>
          </a:p>
          <a:p>
            <a:pPr algn="l"/>
            <a:r>
              <a:rPr sz="18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2. สถานะแสดงเป็นข้อความธรรมดา</a:t>
            </a:r>
          </a:p>
          <a:p>
            <a:pPr algn="l"/>
            <a:r>
              <a:rPr sz="18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3. ใช้ข้อมูลตัวอย่างเดิม 3 รายการ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ตัวอย่างวงจรจริง (2) — จังหวะที่ 3 และ 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075688"/>
            <a:ext cx="10545775" cy="1463040"/>
          </a:xfrm>
          <a:prstGeom prst="roundRect">
            <a:avLst/>
          </a:prstGeom>
          <a:solidFill>
            <a:srgbClr val="FFF7E6"/>
          </a:solidFill>
          <a:ln w="22225">
            <a:solidFill>
              <a:srgbClr val="E0A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22960" y="2075688"/>
            <a:ext cx="100584" cy="1463040"/>
          </a:xfrm>
          <a:prstGeom prst="roundRect">
            <a:avLst/>
          </a:prstGeom>
          <a:solidFill>
            <a:srgbClr val="E0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30552"/>
            <a:ext cx="1008857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86C0A"/>
                </a:solidFill>
                <a:latin typeface="Leelawadee UI"/>
                <a:ea typeface="Leelawadee UI"/>
                <a:cs typeface="Leelawadee UI"/>
              </a:rPr>
              <a:t>💬 จังหวะที่ 3 — เราแก้แผน 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59736"/>
            <a:ext cx="10088575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ข้อ 2 ขอเป็นป้ายสีตามสถานะ ข้อ 3 ขอ 5 รายการ</a:t>
            </a:r>
          </a:p>
          <a:p>
            <a:pPr algn="l">
              <a:spcAft>
                <a:spcPts val="0"/>
              </a:spcAft>
            </a:pPr>
            <a:r>
              <a:rPr sz="20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ที่เหลือโอเค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739896"/>
            <a:ext cx="10545775" cy="1078992"/>
          </a:xfrm>
          <a:prstGeom prst="roundRect">
            <a:avLst/>
          </a:prstGeom>
          <a:solidFill>
            <a:srgbClr val="FFF7E6"/>
          </a:solidFill>
          <a:ln w="22225">
            <a:solidFill>
              <a:srgbClr val="E0A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22960" y="3739896"/>
            <a:ext cx="100584" cy="1078992"/>
          </a:xfrm>
          <a:prstGeom prst="roundRect">
            <a:avLst/>
          </a:prstGeom>
          <a:solidFill>
            <a:srgbClr val="E0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794760"/>
            <a:ext cx="1008857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86C0A"/>
                </a:solidFill>
                <a:latin typeface="Leelawadee UI"/>
                <a:ea typeface="Leelawadee UI"/>
                <a:cs typeface="Leelawadee UI"/>
              </a:rPr>
              <a:t>💬 จังหวะที่ 4 — สั่งลงมือ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123944"/>
            <a:ext cx="100885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แผนโอเคแล้ว ลงมือได้ ทำทีละข้อ เสร็จข้อไหนบอกผมก่อน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สั่งทีเดียวหลายอย่าง กับ สั่งทีละอย่าง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563624"/>
            <a:ext cx="10545775" cy="1508760"/>
          </a:xfrm>
          <a:prstGeom prst="roundRect">
            <a:avLst/>
          </a:prstGeom>
          <a:solidFill>
            <a:srgbClr val="FDECEC"/>
          </a:solidFill>
          <a:ln w="19050"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87552" y="1636776"/>
            <a:ext cx="1021659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9534F"/>
                </a:solidFill>
                <a:latin typeface="Leelawadee UI"/>
                <a:ea typeface="Leelawadee UI"/>
                <a:cs typeface="Leelawadee UI"/>
              </a:rPr>
              <a:t>❌ สั่ง 5 อย่างรวดเดียว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" y="1984248"/>
            <a:ext cx="3088538" cy="996696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สั่งยาวรวดเดียว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213615" y="2333092"/>
            <a:ext cx="291876" cy="299008"/>
          </a:xfrm>
          <a:prstGeom prst="rightArrow">
            <a:avLst/>
          </a:prstGeom>
          <a:solidFill>
            <a:srgbClr val="7A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51578" y="1984248"/>
            <a:ext cx="3088538" cy="996696"/>
          </a:xfrm>
          <a:prstGeom prst="roundRect">
            <a:avLst/>
          </a:prstGeom>
          <a:solidFill>
            <a:srgbClr val="1F5FA8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พังแล้วหาไม่เจอ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686201" y="2333092"/>
            <a:ext cx="291876" cy="299008"/>
          </a:xfrm>
          <a:prstGeom prst="rightArrow">
            <a:avLst/>
          </a:prstGeom>
          <a:solidFill>
            <a:srgbClr val="7A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24164" y="1984248"/>
            <a:ext cx="3088538" cy="996696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รื้อทิ้งทั้งก้อน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273552"/>
            <a:ext cx="10545775" cy="1508760"/>
          </a:xfrm>
          <a:prstGeom prst="roundRect">
            <a:avLst/>
          </a:prstGeom>
          <a:solidFill>
            <a:srgbClr val="EAF6EC"/>
          </a:solidFill>
          <a:ln w="19050">
            <a:solidFill>
              <a:srgbClr val="3F9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87552" y="3346704"/>
            <a:ext cx="1021659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F9B54"/>
                </a:solidFill>
                <a:latin typeface="Leelawadee UI"/>
                <a:ea typeface="Leelawadee UI"/>
                <a:cs typeface="Leelawadee UI"/>
              </a:rPr>
              <a:t>✅ สั่งทีละอย่าง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8992" y="3694176"/>
            <a:ext cx="3088538" cy="996696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สั่งหนึ่งอย่าง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213615" y="4043020"/>
            <a:ext cx="291876" cy="299008"/>
          </a:xfrm>
          <a:prstGeom prst="rightArrow">
            <a:avLst/>
          </a:prstGeom>
          <a:solidFill>
            <a:srgbClr val="7A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51578" y="3694176"/>
            <a:ext cx="3088538" cy="996696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ตรวจด้วยตา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686201" y="4043020"/>
            <a:ext cx="291876" cy="299008"/>
          </a:xfrm>
          <a:prstGeom prst="rightArrow">
            <a:avLst/>
          </a:prstGeom>
          <a:solidFill>
            <a:srgbClr val="7A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24164" y="3694176"/>
            <a:ext cx="3088538" cy="996696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commit เก็บไว้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เทียบคำสั่ง 2 แบบ — prompt ยาวไม่ได้แปลว่าดีกว่า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075688"/>
            <a:ext cx="10545775" cy="1463040"/>
          </a:xfrm>
          <a:prstGeom prst="roundRect">
            <a:avLst/>
          </a:prstGeom>
          <a:solidFill>
            <a:srgbClr val="FFF7E6"/>
          </a:solidFill>
          <a:ln w="22225">
            <a:solidFill>
              <a:srgbClr val="E0A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22960" y="2075688"/>
            <a:ext cx="100584" cy="1463040"/>
          </a:xfrm>
          <a:prstGeom prst="roundRect">
            <a:avLst/>
          </a:prstGeom>
          <a:solidFill>
            <a:srgbClr val="E0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30552"/>
            <a:ext cx="1008857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86C0A"/>
                </a:solidFill>
                <a:latin typeface="Leelawadee UI"/>
                <a:ea typeface="Leelawadee UI"/>
                <a:cs typeface="Leelawadee UI"/>
              </a:rPr>
              <a:t>💬 ❌ แบบที่พัง — ยาวรวดเดียว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59736"/>
            <a:ext cx="10088575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ปรับหน้ารายการ เพิ่มหน้าค้นหา เปลี่ยนธีมสี</a:t>
            </a:r>
          </a:p>
          <a:p>
            <a:pPr algn="l">
              <a:spcAft>
                <a:spcPts val="0"/>
              </a:spcAft>
            </a:pPr>
            <a:r>
              <a:rPr sz="20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ทำให้ใช้บนมือถือได้ และใส่ข้อมูลเพิ่ม ทำพร้อมกันเลย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739896"/>
            <a:ext cx="10545775" cy="1463040"/>
          </a:xfrm>
          <a:prstGeom prst="roundRect">
            <a:avLst/>
          </a:prstGeom>
          <a:solidFill>
            <a:srgbClr val="FFF7E6"/>
          </a:solidFill>
          <a:ln w="22225">
            <a:solidFill>
              <a:srgbClr val="E0A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22960" y="3739896"/>
            <a:ext cx="100584" cy="1463040"/>
          </a:xfrm>
          <a:prstGeom prst="roundRect">
            <a:avLst/>
          </a:prstGeom>
          <a:solidFill>
            <a:srgbClr val="E0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794760"/>
            <a:ext cx="1008857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86C0A"/>
                </a:solidFill>
                <a:latin typeface="Leelawadee UI"/>
                <a:ea typeface="Leelawadee UI"/>
                <a:cs typeface="Leelawadee UI"/>
              </a:rPr>
              <a:t>💬 ✅ แบบที่ได้ผล — สั้นแล้วขอแผน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123944"/>
            <a:ext cx="10088575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ผมอยากปรับหน้ารายการใบแจ้งซ่อมให้ตรง DB Schema</a:t>
            </a:r>
          </a:p>
          <a:p>
            <a:pPr algn="l">
              <a:spcAft>
                <a:spcPts val="0"/>
              </a:spcAft>
            </a:pPr>
            <a:r>
              <a:rPr sz="20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ช่วยเขียนแผนให้ผมดูก่อน อย่าเพิ่งลงมือ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👥 ในห้องย่อยทำงานกันอย่างไร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🖥️ ตกลงกันว่า รอบนี้ใครนำจอ — คนนำจอแชร์จอแล้วเล่าไปทำไป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56256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⌨️ ทุกคนพิมพ์เองบนเครื่องตัวเอง ไปพร้อมกัน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7144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🔍 ใครเห็นว่าแผนของ AI ข้อไหนไม่ใช่ ให้พูดขึ้นมาทันที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8663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🔁 ถึง Checkpoint แล้วสลับคนนำจอ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82735" y="10972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8A5400"/>
                </a:solidFill>
                <a:latin typeface="Leelawadee UI"/>
                <a:ea typeface="Leelawadee UI"/>
                <a:cs typeface="Leelawadee UI"/>
              </a:rPr>
              <a:t>🎬 สลับไปหน้าจอสาธิตสด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545775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8A5400"/>
                </a:solidFill>
                <a:latin typeface="Leelawadee UI"/>
                <a:ea typeface="Leelawadee UI"/>
                <a:cs typeface="Leelawadee UI"/>
              </a:rPr>
              <a:t>🎬 ดูของจริง — เดินวงจรเต็มรอบกับ FixIt ⏱ 13 นาที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75688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สั่งสั้น → ขอแผน → แผนมาไม่ตรง → แก้ด้วยประโยคเดียว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90876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สั่งลงมือทีละข้อ → ตรวจด้วยตา → commit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0606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แถม: สั่งพลาดแล้วย้อนด้วย Esc Esc ให้ดูสด 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✅ ช่วงที่ 2 คุณต้องได้อะไรกลับไป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เขียน prompt สั้น 1–3 บรรทัดที่ขอแผนก่อนได้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8737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บอกได้ว่าจังหวะที่ 3 ตรวจแผน คืองานของเรา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02560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อธิบายได้ว่าทำไมห้ามสั่งหลายอย่างรวดเดียว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17748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บอกได้ว่าจังหวะไหนเป็นหน้าที่ของเรา ไม่ใช่ของ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45775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☕ พัก 10 นาที — กลับมา 10:33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45775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ช่วงที่ 3 — 🗂️ NoSQL แบบโฟลเดอร์และไฟล์ ⏱ 10:33–11:05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คำถามเปิดช่วง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ใครจัดไฟล์ในคอมพิวเตอร์ตัวเองเป็นบ้าง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8737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เคยสร้างโฟลเดอร์ แล้วมีโฟลเดอร์ย่อยข้างในไหม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02560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เคยตั้งชื่อไฟล์ให้รู้ว่าอะไรเป็นอะไรไหม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45775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คุณใช้ NoSQL เป็นอยู่แล้ว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แบบที่เราออกแบบไว้เดือนที่ 1 — คิดเป็นตาราง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167128"/>
            <a:ext cx="3259226" cy="1051560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ตาราง</a:t>
            </a:r>
          </a:p>
        </p:txBody>
      </p:sp>
      <p:sp>
        <p:nvSpPr>
          <p:cNvPr id="4" name="Right Arrow 3"/>
          <p:cNvSpPr/>
          <p:nvPr/>
        </p:nvSpPr>
        <p:spPr>
          <a:xfrm>
            <a:off x="4128271" y="2535174"/>
            <a:ext cx="291876" cy="315468"/>
          </a:xfrm>
          <a:prstGeom prst="rightArrow">
            <a:avLst/>
          </a:prstGeom>
          <a:solidFill>
            <a:srgbClr val="7A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466234" y="2167128"/>
            <a:ext cx="3259226" cy="1051560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แถว</a:t>
            </a:r>
          </a:p>
        </p:txBody>
      </p:sp>
      <p:sp>
        <p:nvSpPr>
          <p:cNvPr id="6" name="Right Arrow 5"/>
          <p:cNvSpPr/>
          <p:nvPr/>
        </p:nvSpPr>
        <p:spPr>
          <a:xfrm>
            <a:off x="7771545" y="2535174"/>
            <a:ext cx="291876" cy="315468"/>
          </a:xfrm>
          <a:prstGeom prst="rightArrow">
            <a:avLst/>
          </a:prstGeom>
          <a:solidFill>
            <a:srgbClr val="7A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09508" y="2167128"/>
            <a:ext cx="3259226" cy="1051560"/>
          </a:xfrm>
          <a:prstGeom prst="roundRect">
            <a:avLst/>
          </a:prstGeom>
          <a:solidFill>
            <a:srgbClr val="1F5FA8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คอลัมน์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แบบ Firestore — ของเดียวกัน คนละคำเรียก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563624"/>
            <a:ext cx="3259226" cy="1051560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โฟลเดอร์</a:t>
            </a:r>
          </a:p>
        </p:txBody>
      </p:sp>
      <p:sp>
        <p:nvSpPr>
          <p:cNvPr id="4" name="Right Arrow 3"/>
          <p:cNvSpPr/>
          <p:nvPr/>
        </p:nvSpPr>
        <p:spPr>
          <a:xfrm>
            <a:off x="4128271" y="1931670"/>
            <a:ext cx="291876" cy="315468"/>
          </a:xfrm>
          <a:prstGeom prst="rightArrow">
            <a:avLst/>
          </a:prstGeom>
          <a:solidFill>
            <a:srgbClr val="7A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466234" y="1563624"/>
            <a:ext cx="3259226" cy="1051560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ไฟล์</a:t>
            </a:r>
          </a:p>
        </p:txBody>
      </p:sp>
      <p:sp>
        <p:nvSpPr>
          <p:cNvPr id="6" name="Right Arrow 5"/>
          <p:cNvSpPr/>
          <p:nvPr/>
        </p:nvSpPr>
        <p:spPr>
          <a:xfrm>
            <a:off x="7771545" y="1931670"/>
            <a:ext cx="291876" cy="315468"/>
          </a:xfrm>
          <a:prstGeom prst="rightArrow">
            <a:avLst/>
          </a:prstGeom>
          <a:solidFill>
            <a:srgbClr val="7A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09508" y="1563624"/>
            <a:ext cx="3259226" cy="1051560"/>
          </a:xfrm>
          <a:prstGeom prst="roundRect">
            <a:avLst/>
          </a:prstGeom>
          <a:solidFill>
            <a:srgbClr val="1F5FA8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ข้อมูลในไฟล์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แปลศัพท์ชุดที่ 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472184"/>
          <a:ext cx="1054577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5258"/>
                <a:gridCol w="3515258"/>
                <a:gridCol w="3515259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สิ่งที่คุณคุ้นอยู่แล้ว</a:t>
                      </a:r>
                    </a:p>
                  </a:txBody>
                  <a:tcPr marL="91440" marR="91440" marT="27432" marB="27432" anchor="ctr"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เรียกว่า</a:t>
                      </a:r>
                    </a:p>
                  </a:txBody>
                  <a:tcPr marL="91440" marR="91440" marT="27432" marB="27432" anchor="ctr"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ตัวอย่างใน FixIt</a:t>
                      </a:r>
                    </a:p>
                  </a:txBody>
                  <a:tcPr marL="91440" marR="91440" marT="27432" marB="27432" anchor="ctr">
                    <a:solidFill>
                      <a:srgbClr val="1F5FA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📁 โฟลเดอร์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Collection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tickets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📄 ไฟล์ในโฟลเดอร์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Document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ใบแจ้งซ่อม 1 ใบ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✏️ ข้อมูลข้างในไฟล์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Field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หัวข้อ สถานะ วันที่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แปลศัพท์ชุดที่ 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472184"/>
          <a:ext cx="1054577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5258"/>
                <a:gridCol w="3515258"/>
                <a:gridCol w="3515259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สิ่งที่คุณคุ้นอยู่แล้ว</a:t>
                      </a:r>
                    </a:p>
                  </a:txBody>
                  <a:tcPr marL="91440" marR="91440" marT="27432" marB="27432" anchor="ctr"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เรียกว่า</a:t>
                      </a:r>
                    </a:p>
                  </a:txBody>
                  <a:tcPr marL="91440" marR="91440" marT="27432" marB="27432" anchor="ctr"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ตัวอย่างใน FixIt</a:t>
                      </a:r>
                    </a:p>
                  </a:txBody>
                  <a:tcPr marL="91440" marR="91440" marT="27432" marB="27432" anchor="ctr">
                    <a:solidFill>
                      <a:srgbClr val="1F5FA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🏷️ ชื่อไฟล์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Document ID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t001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📁 โฟลเดอร์ย่อยข้างใน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Subcollection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comments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🗺️ ที่อยู่เต็มของไฟล์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Document Path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tickets/t001/comments/c001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หน้าตาจริงของ FixIt บน Firestore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472184"/>
            <a:ext cx="10545775" cy="285292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l"/>
            <a:r>
              <a:rPr sz="18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📁 users/       📄 u001 { name: "สมชาย", role: "employee" }</a:t>
            </a:r>
          </a:p>
          <a:p>
            <a:pPr algn="l"/>
            <a:r>
              <a:rPr sz="18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📁 categories/  📄 c001 { name: "ไฟฟ้า" }</a:t>
            </a:r>
          </a:p>
          <a:p>
            <a:pPr algn="l"/>
            <a:r>
              <a:rPr sz="18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📁 tickets/</a:t>
            </a:r>
          </a:p>
          <a:p>
            <a:pPr algn="l"/>
            <a:r>
              <a:rPr sz="18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📄 t001 { title, status: "แจ้งใหม่",</a:t>
            </a:r>
          </a:p>
          <a:p>
            <a:pPr algn="l"/>
            <a:r>
              <a:rPr sz="18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reporterId: "u001",  reporterName: "สมชาย",</a:t>
            </a:r>
          </a:p>
          <a:p>
            <a:pPr algn="l"/>
            <a:r>
              <a:rPr sz="18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categoryId: "c001",  categoryName: "ไฟฟ้า" }</a:t>
            </a:r>
          </a:p>
          <a:p>
            <a:pPr algn="l"/>
            <a:r>
              <a:rPr sz="18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📁 comments/</a:t>
            </a:r>
          </a:p>
          <a:p>
            <a:pPr algn="l"/>
            <a:r>
              <a:rPr sz="18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📄 cm001 { authorName, message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45775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status กับ Status ไม่ใช่ตัวเดียวกัน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ข้อที่ต่างจากตารางมากที่สุด — ไม่มี JOIN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75688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ในไฟล์ใบแจ้งซ่อม เก็บไว้เท่านี้ reporterId: "u001"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90876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อยากรู้ชื่อผู้แจ้ง ต้องเปิดโฟลเดอร์ users หาไฟล์ u001 อีกที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74948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ทำทุกครั้งที่แสดงรายการ = ช้าและยุ่ง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90136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20 ใบแจ้งซ่อม = เปิดหาอีก 20 รอบ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ไม่มี JOIN จึงต้องจดชื่อซ้ำ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563624"/>
            <a:ext cx="10545775" cy="1508760"/>
          </a:xfrm>
          <a:prstGeom prst="roundRect">
            <a:avLst/>
          </a:prstGeom>
          <a:solidFill>
            <a:srgbClr val="FDECEC"/>
          </a:solidFill>
          <a:ln w="19050"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87552" y="1636776"/>
            <a:ext cx="1021659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9534F"/>
                </a:solidFill>
                <a:latin typeface="Leelawadee UI"/>
                <a:ea typeface="Leelawadee UI"/>
                <a:cs typeface="Leelawadee UI"/>
              </a:rPr>
              <a:t>❌ เก็บไว้เฉพาะรหัส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" y="1984248"/>
            <a:ext cx="3088538" cy="996696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เปิดใบแจ้งซ่อม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213615" y="2333092"/>
            <a:ext cx="291876" cy="299008"/>
          </a:xfrm>
          <a:prstGeom prst="rightArrow">
            <a:avLst/>
          </a:prstGeom>
          <a:solidFill>
            <a:srgbClr val="7A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51578" y="1984248"/>
            <a:ext cx="3088538" cy="996696"/>
          </a:xfrm>
          <a:prstGeom prst="roundRect">
            <a:avLst/>
          </a:prstGeom>
          <a:solidFill>
            <a:srgbClr val="1F5FA8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เห็นรหัส u001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686201" y="2333092"/>
            <a:ext cx="291876" cy="299008"/>
          </a:xfrm>
          <a:prstGeom prst="rightArrow">
            <a:avLst/>
          </a:prstGeom>
          <a:solidFill>
            <a:srgbClr val="7A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24164" y="1984248"/>
            <a:ext cx="3088538" cy="996696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วิ่งไปเปิด users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273552"/>
            <a:ext cx="10545775" cy="1508760"/>
          </a:xfrm>
          <a:prstGeom prst="roundRect">
            <a:avLst/>
          </a:prstGeom>
          <a:solidFill>
            <a:srgbClr val="EAF6EC"/>
          </a:solidFill>
          <a:ln w="19050">
            <a:solidFill>
              <a:srgbClr val="3F9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87552" y="3346704"/>
            <a:ext cx="1021659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F9B54"/>
                </a:solidFill>
                <a:latin typeface="Leelawadee UI"/>
                <a:ea typeface="Leelawadee UI"/>
                <a:cs typeface="Leelawadee UI"/>
              </a:rPr>
              <a:t>✅ จดชื่อซ้ำไว้ในไฟล์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8992" y="3694176"/>
            <a:ext cx="3088538" cy="996696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เปิดใบแจ้งซ่อม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213615" y="4043020"/>
            <a:ext cx="291876" cy="299008"/>
          </a:xfrm>
          <a:prstGeom prst="rightArrow">
            <a:avLst/>
          </a:prstGeom>
          <a:solidFill>
            <a:srgbClr val="7A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51578" y="3694176"/>
            <a:ext cx="3088538" cy="996696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เห็นชื่อสมชาย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686201" y="4043020"/>
            <a:ext cx="291876" cy="299008"/>
          </a:xfrm>
          <a:prstGeom prst="rightArrow">
            <a:avLst/>
          </a:prstGeom>
          <a:solidFill>
            <a:srgbClr val="7A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24164" y="3694176"/>
            <a:ext cx="3088538" cy="996696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จบในไฟล์เดียว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ราคาของการจดชื่อซ้ำ — ต้องรู้ก่อนเลือก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สมชายเปลี่ยนชื่อเป็น "สมชาย ใจดี"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8737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ไฟล์ใน users แก้จุดเดียวจบ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02560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แต่ใบแจ้งซ่อม 20 ใบยังขึ้นชื่อเก่า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17748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ต้องไล่แก้ทุกใบที่จดชื่อเขาไว้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แปลง DB Schema เป็นโฟลเดอร์ — กติกา 4 ข้อ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75688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ตาราง → 📁 โฟลเดอร์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90876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แถว → 📄 ไฟล์ · คอลัมน์ → ✏️ ข้อมูลในไฟล์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0606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ช่องที่ชี้ไปตารางอื่น → เก็บ ID + จดชื่อซ้ำ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2125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ตารางลูกที่ห้อยกับแม่ → 📁 โฟลเดอร์ย่อย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82735" y="10972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8A5400"/>
                </a:solidFill>
                <a:latin typeface="Leelawadee UI"/>
                <a:ea typeface="Leelawadee UI"/>
                <a:cs typeface="Leelawadee UI"/>
              </a:rPr>
              <a:t>🎬 สลับไปหน้าจอสาธิตสด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545775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8A5400"/>
                </a:solidFill>
                <a:latin typeface="Leelawadee UI"/>
                <a:ea typeface="Leelawadee UI"/>
                <a:cs typeface="Leelawadee UI"/>
              </a:rPr>
              <a:t>🎬 สาธิต — แปลง Schema ของ FixIt สดบนกระดาน ⏱ 10 นาที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75688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ทำทีละตารางบนกระดานร่วม ห้ามทำล่วงหน้า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90876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ผู้เรียนช่วยตอบว่าตารางนี้กลายเป็นอะไร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0606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จบด้วยการวงกลมช่องที่ต้องจดซ้ำ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ผลลัพธ์หลังแปลงเสร็จ — แบบที่ใช้สร้างจริง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075688"/>
            <a:ext cx="10545775" cy="25420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l"/>
            <a:r>
              <a:rPr sz="18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📁 users/         📄 { name, email, role }</a:t>
            </a:r>
          </a:p>
          <a:p>
            <a:pPr algn="l"/>
            <a:r>
              <a:rPr sz="18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📁 categories/    📄 { name }</a:t>
            </a:r>
          </a:p>
          <a:p>
            <a:pPr algn="l"/>
            <a:r>
              <a:rPr sz="18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📁 tickets/       📄 { title, detail, status,</a:t>
            </a:r>
          </a:p>
          <a:p>
            <a:pPr algn="l"/>
            <a:r>
              <a:rPr sz="18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       reporterId, reporterName,</a:t>
            </a:r>
          </a:p>
          <a:p>
            <a:pPr algn="l"/>
            <a:r>
              <a:rPr sz="18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       categoryId, categoryName,</a:t>
            </a:r>
          </a:p>
          <a:p>
            <a:pPr algn="l"/>
            <a:r>
              <a:rPr sz="18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       createdAt }</a:t>
            </a:r>
          </a:p>
          <a:p>
            <a:pPr algn="l"/>
            <a:r>
              <a:rPr sz="18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     📁 comments/ 📄 { authorName, message, createdAt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✅ ช่วงที่ 3 คุณต้องได้อะไรกลับไป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แปลศัพท์ Collection · Document · Field เป็นภาษาคนได้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8737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อธิบายได้ว่าทำไมต้องจดชื่อซ้ำ และราคาของมัน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02560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ท่องกติกาแปลง 4 ข้อได้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17748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พร้อมวาดแบบของหัวข้อของคุณบนกระดาษ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45775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ช่วงที่ 4 — 🗄️ สร้าง Firestore จริง ⭐ ⏱ 11:05–11:35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Firestore — คลังเก็บข้อมูลบนคลาวด์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เก็บเป็น 📁 โฟลเดอร์ 📄 ไฟล์ แบบที่เพิ่งเรียนเป๊ะ 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8737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อยู่บนคลาวด์ — ปิดเบราว์เซอร์ ข้อมูลไม่หาย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02560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หน้าเว็บคุยกับมันตรง ๆ เราไม่ต้องเขียนเซิร์ฟเวอร์เอง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17748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ใช้ Firebase project ที่สมัครไว้แล้วจาก Module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เส้นทางข้อมูลของวันนี้ — อ่านอย่างเดียว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563624"/>
            <a:ext cx="2348407" cy="1051560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เปิดหน้ารายการ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217452" y="1931670"/>
            <a:ext cx="291876" cy="315468"/>
          </a:xfrm>
          <a:prstGeom prst="rightArrow">
            <a:avLst/>
          </a:prstGeom>
          <a:solidFill>
            <a:srgbClr val="7A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555415" y="1563624"/>
            <a:ext cx="2348407" cy="1051560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หน้าเว็บถามคลัง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949907" y="1931670"/>
            <a:ext cx="291876" cy="315468"/>
          </a:xfrm>
          <a:prstGeom prst="rightArrow">
            <a:avLst/>
          </a:prstGeom>
          <a:solidFill>
            <a:srgbClr val="7A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87870" y="1563624"/>
            <a:ext cx="2348407" cy="1051560"/>
          </a:xfrm>
          <a:prstGeom prst="roundRect">
            <a:avLst/>
          </a:prstGeom>
          <a:solidFill>
            <a:srgbClr val="1F5FA8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Firestore ตอบกลับ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682362" y="1931670"/>
            <a:ext cx="291876" cy="315468"/>
          </a:xfrm>
          <a:prstGeom prst="rightArrow">
            <a:avLst/>
          </a:prstGeom>
          <a:solidFill>
            <a:srgbClr val="7A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020325" y="1563624"/>
            <a:ext cx="2348407" cy="1051560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แสดงบนจอ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วันนี้ทำตัว R ตัวเดียว — CRUD ที่เหลือสัปดาห์หน้า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2075688"/>
          <a:ext cx="1054577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5258"/>
                <a:gridCol w="3515258"/>
                <a:gridCol w="3515259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ตัว</a:t>
                      </a:r>
                    </a:p>
                  </a:txBody>
                  <a:tcPr marL="91440" marR="91440" marT="27432" marB="27432" anchor="ctr"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แปลว่า</a:t>
                      </a:r>
                    </a:p>
                  </a:txBody>
                  <a:tcPr marL="91440" marR="91440" marT="27432" marB="27432" anchor="ctr"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ทำเมื่อไร</a:t>
                      </a:r>
                    </a:p>
                  </a:txBody>
                  <a:tcPr marL="91440" marR="91440" marT="27432" marB="27432" anchor="ctr">
                    <a:solidFill>
                      <a:srgbClr val="1F5FA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เพิ่มข้อมูลจากหน้าเว็บ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สัปดาห์ที่ 7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R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อ่านข้อมูลมาแสดง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วันนี้ ⭐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U / 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แก้ / ลบ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สัปดาห์ที่ 7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4 ขั้นที่ผมจะทำให้ดู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563624"/>
            <a:ext cx="2348407" cy="1051560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เปิดคลังโหมดทดสอบ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217452" y="1931670"/>
            <a:ext cx="291876" cy="315468"/>
          </a:xfrm>
          <a:prstGeom prst="rightArrow">
            <a:avLst/>
          </a:prstGeom>
          <a:solidFill>
            <a:srgbClr val="7A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555415" y="1563624"/>
            <a:ext cx="2348407" cy="1051560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เชื่อมเว็บ ใส่ข้อมูล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949907" y="1931670"/>
            <a:ext cx="291876" cy="315468"/>
          </a:xfrm>
          <a:prstGeom prst="rightArrow">
            <a:avLst/>
          </a:prstGeom>
          <a:solidFill>
            <a:srgbClr val="7A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87870" y="1563624"/>
            <a:ext cx="2348407" cy="1051560"/>
          </a:xfrm>
          <a:prstGeom prst="roundRect">
            <a:avLst/>
          </a:prstGeom>
          <a:solidFill>
            <a:srgbClr val="1F5FA8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Console ส่องด้วยตา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682362" y="1931670"/>
            <a:ext cx="291876" cy="315468"/>
          </a:xfrm>
          <a:prstGeom prst="rightArrow">
            <a:avLst/>
          </a:prstGeom>
          <a:solidFill>
            <a:srgbClr val="7A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020325" y="1563624"/>
            <a:ext cx="2348407" cy="1051560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หน้ารายการอ่านจริง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โหมดทดสอบ — ประตูคลังยังเปิดอยู่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โหมดทดสอบ (test mode) = คลังที่ใครมีที่อยู่ก็เปิดอ่านเขียนได้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56256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มีวันหมดอายุ — จดวันที่ไว้ เลยแล้วระบบจะเงียบใส่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71444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🚫 ห้ามใส่ข้อมูลจริงของคนอื่น — ใช้ชื่อสมมติ สมชาย สมหญิง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55516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🔑 กุญแจจริง (ล็อกอิน + กฎ) มาสัปดาห์ที่ 7–8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ข้อยกเว้นเดียวที่ prompt ยาวได้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prompt ที่เป็น รายการข้อมูล เช่น ชื่อโฟลเดอร์ ชื่อช่อง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56256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เพราะ status กับ Status ไม่ใช่ตัวเดียวกัน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7144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สะกดผิด 1 ตัว = หน้าจอว่างแบบไม่มี error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8663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📌 งานอื่นทั้งหมด กลับไปสั่งสั้นเหมือนเดิม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45775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ทักษะสำคัญที่สุดของวันนี้ — เปิด Console ส่องข้อมูลด้วยตา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82735" y="10972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8A5400"/>
                </a:solidFill>
                <a:latin typeface="Leelawadee UI"/>
                <a:ea typeface="Leelawadee UI"/>
                <a:cs typeface="Leelawadee UI"/>
              </a:rPr>
              <a:t>🎬 สลับไปหน้าจอสาธิตสด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545775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8A5400"/>
                </a:solidFill>
                <a:latin typeface="Leelawadee UI"/>
                <a:ea typeface="Leelawadee UI"/>
                <a:cs typeface="Leelawadee UI"/>
              </a:rPr>
              <a:t>🎬 ดูของจริง — สร้างคลัง · ใส่ข้อมูล · ส่อง · ต่อหน้ารายการ ⏱ 22 นาที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75688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เปิด Firestore โหมดทดสอบ ในโปรเจกต์ FixIt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90876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เชื่อมเว็บกับคลัง แล้ว ใส่ข้อมูลตัวอย่างชุดแรก — ศัพท์เรียกว่า seed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74948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เปิด Console เห็นโฟลเดอร์ tickets ด้วยตา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390136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ต่อหน้ารายการอ่านจากคลังจริง → ปิดเบราว์เซอร์ → เปิดใหม่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45775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ข้อมูลยังอยู่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✅ ช่วงที่ 4 คุณต้องได้อะไรกลับไป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บอกเส้นทางข้อมูลตอนเปิดหน้ารายการได้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8737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รู้ว่าวันนี้ทำเฉพาะตัว R — อ่านอย่างเดียว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02560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รู้ว่า Console ใช้ตอบว่า พังตอนใส่ หรือ พังตอนอ่าน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17748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รู้ว่า prompt ยาวได้เฉพาะตอนระบุชื่อช่องข้อมูล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45775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ช่วงที่ 5 — จัดการความจำของ AI ⏱ 11:35–11:50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3 สัญญาณว่าความจำเริ่มเต็ม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🚩 AI ลืมข้อตกลงที่คุยกันไว้เมื่อ 20 นาทีก่อน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8737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🚩 แก้จุดหนึ่งแล้วอีกจุดที่เคยดีกลับพัง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02560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🚩 ตอบวนซ้ำเดิม ทั้งที่เราบอกว่ายังไม่ถูก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17748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📌 เจอสัญญาณไหนก็ตาม → ถึงเวลาจัดการความจำ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ไม่ใช่ความรู้สึกเรา — มีงานวิจัยวัดไว้แล้ว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2075688"/>
          <a:ext cx="10545775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5258"/>
                <a:gridCol w="3515258"/>
                <a:gridCol w="3515259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ใครวัด</a:t>
                      </a:r>
                    </a:p>
                  </a:txBody>
                  <a:tcPr marL="91440" marR="91440" marT="27432" marB="27432" anchor="ctr"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วัดอะไร</a:t>
                      </a:r>
                    </a:p>
                  </a:txBody>
                  <a:tcPr marL="91440" marR="91440" marT="27432" marB="27432" anchor="ctr"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ผลที่ได้</a:t>
                      </a:r>
                    </a:p>
                  </a:txBody>
                  <a:tcPr marL="91440" marR="91440" marT="27432" marB="27432" anchor="ctr">
                    <a:solidFill>
                      <a:srgbClr val="1F5FA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Chroma 2568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AI 18 ตัว — Claude · GPT · Gemini · Qwen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ยาวขึ้น แม่นลดลงทุกตัว แม้โต๊ะยังไม่เต็ม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Stanford 2566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หาคำตอบจากเอกสาร 20 ชิ้น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ความแม่นตกจาก 70–75% เหลือ 55–60%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3767328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📌 ไม่ใช่ว่าเต็มแล้วค่อยแย่ — ยาวขึ้นเมื่อไรก็เริ่มแย่ลงทันที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prompt สรุปสถานะ — เก็บความจำก่อนล้าง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72184"/>
            <a:ext cx="10545775" cy="1463040"/>
          </a:xfrm>
          <a:prstGeom prst="roundRect">
            <a:avLst/>
          </a:prstGeom>
          <a:solidFill>
            <a:srgbClr val="FFF7E6"/>
          </a:solidFill>
          <a:ln w="22225">
            <a:solidFill>
              <a:srgbClr val="E0A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22960" y="1472184"/>
            <a:ext cx="100584" cy="1463040"/>
          </a:xfrm>
          <a:prstGeom prst="roundRect">
            <a:avLst/>
          </a:prstGeom>
          <a:solidFill>
            <a:srgbClr val="E0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27048"/>
            <a:ext cx="1008857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86C0A"/>
                </a:solidFill>
                <a:latin typeface="Leelawadee UI"/>
                <a:ea typeface="Leelawadee UI"/>
                <a:cs typeface="Leelawadee UI"/>
              </a:rPr>
              <a:t>💬 พิมพ์ก่อนล้างบทสนทนาเสมอ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56232"/>
            <a:ext cx="10088575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สรุปสถานะโปรเจกต์ตอนนี้ให้ผมเป็นข้อ ๆ</a:t>
            </a:r>
          </a:p>
          <a:p>
            <a:pPr algn="l">
              <a:spcAft>
                <a:spcPts val="0"/>
              </a:spcAft>
            </a:pPr>
            <a:r>
              <a:rPr sz="20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เขียนให้ผมคัดลอกไปเริ่มบทสนทนาใหม่ได้เลย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36392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อ่านสรุปแล้วตอบว่าอะไรขาด — ใช้จังหวะที่ 3 เหมือนตรวจแผน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22046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คัดลอกเก็บลงไฟล์ บันทึกสถานะ.md ในโปรเจกต์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เริ่มรอบใหม่ — /clear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472184"/>
            <a:ext cx="10545775" cy="676656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l"/>
            <a:r>
              <a:rPr sz="18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/clear      ล้างบทสนทนาปัจจุบันทั้งหมด แล้วเริ่มจากศูนย์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📌 ไฟล์ในโปรเจกต์ไม่ได้ถูกล้างไปด้วย ยังอยู่ครบทุกไฟล์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1579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สิ่งที่หายคือความจำของบทสนทนาเท่านั้น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30980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เริ่มรอบใหม่แล้ว วางสรุปสถานะเป็นข้อความแรก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ยังไม่อยากเริ่มใหม่ — /compact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472184"/>
            <a:ext cx="10545775" cy="98755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l"/>
            <a:r>
              <a:rPr sz="18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/compact                    ย่อบทสนทนาให้สั้นลง คืนพื้นที่ความจำ</a:t>
            </a:r>
          </a:p>
          <a:p>
            <a:pPr algn="l"/>
            <a:r>
              <a:rPr sz="18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/compact เน้นเรื่องหน้าจอ    บอกได้ว่าให้เก็บเรื่องไหนไว้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42616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คุยต่อได้เลย ไม่ได้เริ่มใหม่ ข้อตกลงยังอยู่แบบย่อ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5780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ทางเลือกกลาง ระหว่างคุยต่อจนมั่ว กับล้างทิ้งทั้งหมด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ความจำเริ่มเต็ม — เลือกทางไหน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472184"/>
          <a:ext cx="1054577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5258"/>
                <a:gridCol w="3515258"/>
                <a:gridCol w="3515259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ทางเลือก</a:t>
                      </a:r>
                    </a:p>
                  </a:txBody>
                  <a:tcPr marL="91440" marR="91440" marT="27432" marB="27432" anchor="ctr"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เลือกเมื่อ</a:t>
                      </a:r>
                    </a:p>
                  </a:txBody>
                  <a:tcPr marL="91440" marR="91440" marT="27432" marB="27432" anchor="ctr"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ความจำเดิม</a:t>
                      </a:r>
                    </a:p>
                  </a:txBody>
                  <a:tcPr marL="91440" marR="91440" marT="27432" marB="27432" anchor="ctr">
                    <a:solidFill>
                      <a:srgbClr val="1F5FA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คุยต่อ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เพิ่งเริ่ม ยังตอบตรงอยู่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อยู่ครบ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/compact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เริ่มช้าลง แต่ยังทำเรื่องเดิม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เหลือแบบย่อ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/clear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เปลี่ยนเรื่องใหม่ หรือลืมข้อตกลงแล้ว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ไม่เหลือ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Token = เวลา และเงิน — เปิดดูด้วย /usage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075688"/>
            <a:ext cx="10545775" cy="676656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l"/>
            <a:r>
              <a:rPr sz="18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/usage      เปิดดูปริมาณการใช้งานของบัญชีคุณ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35224"/>
            <a:ext cx="10545775" cy="52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บทสนทนายาว ๆ กินโควตาเร็วกว่าที่คิด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14344"/>
            <a:ext cx="10545775" cy="957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⚠️ สิ่งที่เห็นขึ้นกับประเภทบัญชี — เปิดดูของตัวเองแล้วจดไว้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10545775" cy="52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⚠️ คำสั่งเปลี่ยนตามเวอร์ชันได้ ไม่ได้ผลให้พิมพ์ /help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✅ ช่วงที่ 5 คุณต้องได้อะไรกลับไป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บอก 3 สัญญาณว่าความจำเริ่มเต็มได้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8737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มี prompt สรุปสถานะเก็บไว้ใช้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02560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เลือกได้ระหว่าง คุยต่อ · /compact · /clear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17748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รู้ว่า /usage ใช้ดูโควตา และ /help ใช้เมื่อคำสั่งเปลี่ยน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45775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ปิดคาบ ⏱ 11:50–12:00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📦 ส่งอะไร ส่งเมื่อไร — จำ 2 วันนี้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472184"/>
          <a:ext cx="10545775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6443"/>
                <a:gridCol w="2636443"/>
                <a:gridCol w="2636443"/>
                <a:gridCol w="2636446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ทำกับอะไร</a:t>
                      </a:r>
                    </a:p>
                  </a:txBody>
                  <a:tcPr marL="91440" marR="91440" marT="27432" marB="27432" anchor="ctr"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ส่งอะไร</a:t>
                      </a:r>
                    </a:p>
                  </a:txBody>
                  <a:tcPr marL="91440" marR="91440" marT="27432" marB="27432" anchor="ctr"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ภายใน</a:t>
                      </a:r>
                    </a:p>
                  </a:txBody>
                  <a:tcPr marL="91440" marR="91440" marT="27432" marB="27432" anchor="ctr">
                    <a:solidFill>
                      <a:srgbClr val="1F5FA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🔧 ใบงาน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LeaveEasy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URL repo บน GitHub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จันทร์ 31 ส.ค.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🏠 การบ้าน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หัวข้อของคุณ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URL repo บน GitHub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ศุกร์ 4 ก.ย.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ตารางเทียบ — แล้วของคุณล่ะ?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472184"/>
          <a:ext cx="1054577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6443"/>
                <a:gridCol w="2636443"/>
                <a:gridCol w="2636443"/>
                <a:gridCol w="2636446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🎬 FixIt</a:t>
                      </a:r>
                    </a:p>
                  </a:txBody>
                  <a:tcPr marL="91440" marR="91440" marT="27432" marB="27432" anchor="ctr"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🔧 LeaveEasy</a:t>
                      </a:r>
                    </a:p>
                  </a:txBody>
                  <a:tcPr marL="91440" marR="91440" marT="27432" marB="27432" anchor="ctr"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👥 คุณ</a:t>
                      </a:r>
                    </a:p>
                  </a:txBody>
                  <a:tcPr marL="91440" marR="91440" marT="27432" marB="27432" anchor="ctr">
                    <a:solidFill>
                      <a:srgbClr val="1F5FA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📁 โฟลเดอร์หลัก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tickets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leaveRequests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?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📁 โฟลเดอร์ประเภท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categories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leaveTypes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?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📁 โฟลเดอร์ย่อย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comments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approvals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?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✏️ ช่องที่จดซ้ำ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reporterName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requesterName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?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Workshop บ่ายนี้ — LeaveEasy 4 ส่วน 4 Checkpoint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2075688"/>
          <a:ext cx="1054577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5258"/>
                <a:gridCol w="3515258"/>
                <a:gridCol w="3515259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ส่วน</a:t>
                      </a:r>
                    </a:p>
                  </a:txBody>
                  <a:tcPr marL="91440" marR="91440" marT="27432" marB="27432" anchor="ctr"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ทำอะไรกับ LeaveEasy</a:t>
                      </a:r>
                    </a:p>
                  </a:txBody>
                  <a:tcPr marL="91440" marR="91440" marT="27432" marB="27432" anchor="ctr"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🚩 จบด้วย</a:t>
                      </a:r>
                    </a:p>
                  </a:txBody>
                  <a:tcPr marL="91440" marR="91440" marT="27432" marB="27432" anchor="ctr">
                    <a:solidFill>
                      <a:srgbClr val="1F5FA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A · 31 น.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Fork LeaveEasy เข้าบัญชีคุณ + รัน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เว็บขึ้น + commit แรก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B · 25 น.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เขียนโครงสร้าง ลงกระดาษ ไม่ใช้คอม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กระดาษครบชื่อช่อง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 · 45 น.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สร้าง Firestore + ใส่ใบลาตัวอย่าง 5 ใบ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Console เห็นข้อมูล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D · 30 น.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หน้ารายการอ่านจากฐานจริง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แก้ Console แล้วเว็บเปลี่ยน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🖥️ กติกาบ่ายนี้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957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🔗 เช็กว่าคุณอยู่ห้องย่อยไหน — เปิดตารางห้องย่อยที่ลิงก์ในแชท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84120"/>
            <a:ext cx="10545775" cy="52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🖥️ สลับคนนำจอทุก Checkpoint — คนใหม่พิมพ์ชื่อในแชท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10545775" cy="957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🔑 ขั้น A2 ล็อกอิน GitHub ครั้งเดียว — เตรียมอีเมลกับรหัสผ่าน GitHub ไว้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75176"/>
            <a:ext cx="10545775" cy="52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👤 ทุกคน commit ในชื่อตัวเอง แล้วส่งขึ้น repo ของตัวเอง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654296"/>
            <a:ext cx="10545775" cy="957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🚦 พิมพ์ 🟢 🟡 🔴 บอกสถานะตัวเองในแชทเสมอ · ผ่าน Checkpoint แล้วพิมพ์บอก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45775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เจอกันบ่ายนี้ 13:00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6          87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