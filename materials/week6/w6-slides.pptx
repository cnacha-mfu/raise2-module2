
<file path=[Content_Types].xml><?xml version="1.0" encoding="utf-8"?>
<Types xmlns="http://schemas.openxmlformats.org/package/2006/content-types">
  <Default Extension="jpeg" ContentType="image/jpeg"/>
  <Default Extension="jpg" ContentType="image/jpeg"/>
  <Default Extension="JPG&amp;w=3840&amp;q=75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2"/>
  </p:notesMasterIdLst>
  <p:sldIdLst>
    <p:sldId id="256" r:id="rId2"/>
    <p:sldId id="257" r:id="rId3"/>
    <p:sldId id="258" r:id="rId4"/>
    <p:sldId id="259" r:id="rId5"/>
    <p:sldId id="260" r:id="rId6"/>
    <p:sldId id="344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8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9" r:id="rId26"/>
    <p:sldId id="343" r:id="rId27"/>
    <p:sldId id="328" r:id="rId28"/>
    <p:sldId id="329" r:id="rId29"/>
    <p:sldId id="330" r:id="rId30"/>
    <p:sldId id="331" r:id="rId31"/>
    <p:sldId id="332" r:id="rId32"/>
    <p:sldId id="333" r:id="rId33"/>
    <p:sldId id="334" r:id="rId34"/>
    <p:sldId id="335" r:id="rId35"/>
    <p:sldId id="336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45" r:id="rId60"/>
    <p:sldId id="303" r:id="rId61"/>
    <p:sldId id="304" r:id="rId62"/>
    <p:sldId id="305" r:id="rId63"/>
    <p:sldId id="306" r:id="rId64"/>
    <p:sldId id="307" r:id="rId65"/>
    <p:sldId id="308" r:id="rId66"/>
    <p:sldId id="309" r:id="rId67"/>
    <p:sldId id="310" r:id="rId68"/>
    <p:sldId id="311" r:id="rId69"/>
    <p:sldId id="312" r:id="rId70"/>
    <p:sldId id="313" r:id="rId71"/>
    <p:sldId id="314" r:id="rId72"/>
    <p:sldId id="315" r:id="rId73"/>
    <p:sldId id="316" r:id="rId74"/>
    <p:sldId id="317" r:id="rId75"/>
    <p:sldId id="318" r:id="rId76"/>
    <p:sldId id="319" r:id="rId77"/>
    <p:sldId id="320" r:id="rId78"/>
    <p:sldId id="321" r:id="rId79"/>
    <p:sldId id="322" r:id="rId80"/>
    <p:sldId id="323" r:id="rId81"/>
    <p:sldId id="324" r:id="rId82"/>
    <p:sldId id="325" r:id="rId83"/>
    <p:sldId id="326" r:id="rId84"/>
    <p:sldId id="327" r:id="rId85"/>
    <p:sldId id="337" r:id="rId86"/>
    <p:sldId id="338" r:id="rId87"/>
    <p:sldId id="339" r:id="rId88"/>
    <p:sldId id="340" r:id="rId89"/>
    <p:sldId id="341" r:id="rId90"/>
    <p:sldId id="342" r:id="rId9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4" d="100"/>
          <a:sy n="104" d="100"/>
        </p:scale>
        <p:origin x="83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46BF47-F8A7-4C8B-9AE3-0551191754E0}" type="datetimeFigureOut">
              <a:rPr lang="th-TH" smtClean="0"/>
              <a:t>29/08/69</a:t>
            </a:fld>
            <a:endParaRPr lang="th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h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1A7D6E-238E-4C3B-8DEC-52D3214297C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234154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สไลด์ภาพรวมก่อนลงรายละเอียด ใช้ 2 นาทีพอ · ชี้แถบบนจากซ้ายไปขวา "บริษัทที่สร้าง AI เอาข้อความจากทั้งอินเทอร์เน็ตมาให้มันอ่าน แล้วให้มันจำว่าคำไหนมักตามหลังคำไหน · ใช้เวลาเป็นเดือนและใช้เงินมหาศาล แต่ทำครั้งเดียวจบ" · หยุดที่กล่องเข้ม "ผลลัพธ์คือไฟล์ก้อนหนึ่งที่เรียกว่าโมเดล — LLM ย่อมาจาก Large Language Model แปลตรงตัวว่าโมเดลภาษาขนาดใหญ่" · ชี้แถบล่าง "ส่วนตอนที่พวกคุณใช้ คือส่งข้อความไปให้ก้อนนั้น มันเดาคำตอบ แล้วส่งกลับมา จบในไม่กี่วินาที" · ประโยคที่สำคัญที่สุดของสไลด์นี้ "สังเกตนะครับว่าตอนคุยกับเรา มันไม่ได้เรียนรู้อะไรเพิ่มเลย — ก้อนเดิมทั้งวัน · เพราะฉะนั้นสิ่งที่คุณสอนมันวันนี้ พรุ่งนี้มันจำไม่ได้ · เดี๋ยวสัปดาห์ที่ 7 เราจะแก้ข้อนี้ด้วยไฟล์ CLAUDE.md"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จังหวะแรกที่ให้ห้องลงมือ ห้ามข้าม · อ่านออกเสียงแล้วพูดว่า "พิมพ์คำเดียวในแชทเลยครับ ไม่ต้องคิดนาน" · รอจนมีคำตอบอย่างน้อย 10 คน แล้วอ่านออกเสียง 4–5 อัน · เกือบทั้งห้องจะตอบว่า "ดี" · พูดว่า "เห็นไหมครับ พวกคุณเพิ่งทำสิ่งเดียวกับที่ AI ทำ" แล้วค่อยกดสไลด์ถัดไป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เฉลยต่อจากที่ห้องเพิ่งตอบ — "ที่พวกคุณตอบว่าดีกันเกือบหมด ไม่ใช่เพราะรู้จักอากาศวันนี้นะครับ แต่เพราะเคยได้ยินประโยคแบบนี้มาเยอะ · AI ทำแบบเดียวกันเป๊ะ" · ชี้บรรทัดสุดท้าย "และโค้ดก็คือข้อความแบบหนึ่ง มันจึงเขียนโค้ดด้วยวิธีเดียวกันนี้"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หยุดที่บรรทัด 🙋 รอให้มีมืออย่างน้อย 5 อันก่อนไปต่อ แล้วขอให้ 1 คนเล่าสั้น ๆ ว่าเจอเรื่องอะไร (30 วินาที) — เรื่องจริงจากเพื่อนร่วมห้องจำได้ดีกว่าที่ผู้สอนเล่าเอง · 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ใช้ 1 นาทีครึ่ง ไม่ต้องลงรายละเอียดบริษัท · อธิบายคอลัมน์ขวาให้ชัดเพราะเป็นสิ่งเดียวที่ต้องจำ — 🔒 "แบบขาย เราส่งข้อความไปหาเครื่องเขา จ่ายตามที่ใช้ ไม่ต้องมีเครื่องแรง" · 🔓 "แบบเปิด เขาแจกไฟล์โมเดลให้โหลดมารันในเครื่องตัวเองได้ฟรี แต่ต้องมีเครื่องแรงพอ ซึ่งส่วนใหญ่เราไม่มี" · ประโยคที่ต้องพูด "คอร์สนี้ใช้ Claude แต่ไม่ได้แปลว่าตัวอื่นแย่นะครับ ทุกตัวทำงานด้วยหลักการเดียวกับที่เพิ่งเล่าไป" · โยงไปข้างหน้า "สัปดาห์ที่ 8 พวกคุณจะได้ลองสลับโมเดลเองผ่าน OpenRouter แล้วเทียบว่าตัวไหนตอบดีกว่าสำหรับงานของคุณ" · 💡 อยากใส่โลโก้บริษัทให้สวยขึ้น เปิด .pptx แล้ววางรูปทับคอลัมน์ซ้ายได้เลย ไฟล์ต้นฉบับไม่ต้องแก้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ถามบรรทัด 🙋 ก่อนเฉลยบรรทัดสาม ให้พิมพ์ ไทย หรือ อังกฤษ ในแชท · ส่วนใหญ่จะตอบผิดว่าอังกฤษ · เฉลยว่า "ภาษาไทยครับ ถูกหั่นละเอียดกว่า ประโยคเท่ากันเรากินโทเคนมากกว่า" แล้วรีบบอกว่า "ข้อนี้ไม่ต้องทำอะไรนะครับ ขอให้รู้ไว้เฉย ๆ" · 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ทายก่อนเฉลย · ให้ตัวเลือกปากเปล่า 3 ข้อแล้วให้พิมพ์เลขในแชท — "หนึ่ง คำสั่งล่าสุดที่คุณเพิ่งพิมพ์ · สอง ไฟล์ที่มันเปิดอ่าน · สาม ข้อตกลงที่คุยกันไว้ตอนต้น" · รอคำตอบ 10 วินาที · คนส่วนใหญ่จะตอบข้อหนึ่ง ซึ่งผิด · แล้วค่อยกดสไลด์ถัดไปเฉลย — ความรู้สึกว่าเดาผิดคือสิ่งที่ทำให้จำได้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อ่านตัวเลือกให้ฟัง — "หนึ่ง เปิดหน้าเว็บแชท ถามแล้วคัดลอกคำตอบไปใช้ · สอง มันเข้าไปแก้ไฟล์ในเครื่องคุณเอง" · รอให้ตัวเลขวิ่งในแชทสัก 15 วินาที เกือบทั้งห้องจะตอบ 1 · พูดว่า "แทบทุกคนตอบหนึ่งครับ — สี่สัปดาห์นี้เราจะย้ายไปแบบสอง มาดูกันว่าต่างกันยังไง"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ถามบรรทัด 🙋 ก่อนอธิบาย · คำตอบคือ ทำไม่ได้เลยทั้ง 5 ข้อ ถ้าไม่ให้มันเข้าถึงเครื่องเรา — เฉลยแล้วห้องจะเข้าใจทันทีว่าทำไมคอร์สนี้ไม่ใช้หน้าเว็บแชท · จากนั้นอ่านไล่ทีละข้อ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อ่านชื่อที่ห้องพิมพ์มา 3–4 อันแล้วไปต่อทันที · 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163435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526295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ทายก่อนเฉลย — ก่อนเปิดตาราง ถามห้องว่า "ถ้า AI ตอบถูก 70 เปอร์เซ็นต์ตอนข้อความสั้น พอข้อความยาวขึ้นคุณคิดว่าจะเหลือเท่าไร พิมพ์ตัวเลขในแชท" รอ 10 วินาทีแล้วค่อยชี้ตาราง · 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927798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92100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587799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29691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554874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563856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9474435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"ช่วงนี้ 19 นาที จบ 09:50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ชี้บรรทัดสุดท้ายแล้วย้ำให้ชัด "ในคอร์สนี้พวกคุณไม่ต้องติดตั้งอะไรเองและไม่ต้องจำชื่อเครื่องมือครับ · ติดอะไรก็พิมพ์บอก Claude เป็นภาษาไทยว่าเครื่องผมยังไม่มีตัวนี้ ช่วยติดตั้งให้ที แล้วมันจะพาทำทีละขั้น"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 · ย้ำกล่องเหลือง "ชั้นที่สองไม่ต้องจำคำสั่งนะครับ พิมพ์ภาษาไทยบอกมันแบบนี้เลย"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ย้ำว่าทั้งสี่ขั้นไม่มีคำสั่งให้ท่องสักตัว "ทุกบรรทัดคือการพิมพ์บอก Claude เป็นภาษาไทย เหมือนที่เราทำกับ git ทั้งเดือน"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32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"ช่วงนี้ 33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60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ยังไม่ต้องพูดศัพท์ seed ตรงนี้ เก็บไว้สไลด์ถัดไปที่มีที่อธิบาย · 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71 · หยุดที่บรรทัดสองแล้วให้ศัพท์ตรงนี้ครั้งเดียว "คำว่า seed ที่เห็นในเอกสารทุกที่ แปลว่าใส่ข้อมูลตัวอย่างชุดแรกเข้าฐานข้อมูล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&amp;w=3840&amp;q=75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&amp;w=3840&amp;q=75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Z" sz="40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</a:t>
            </a:r>
            <a:r>
              <a:rPr lang="en-NZ" sz="40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</a:t>
            </a:r>
            <a:r>
              <a:rPr lang="en-NZ" sz="40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 — </a:t>
            </a:r>
            <a:r>
              <a:rPr lang="th-TH" sz="40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  <a:endParaRPr sz="4000" b="1" dirty="0">
              <a:solidFill>
                <a:srgbClr val="1F5FA8"/>
              </a:solidFill>
              <a:latin typeface="Leelawadee UI"/>
              <a:ea typeface="Leelawadee UI"/>
              <a:cs typeface="Leelawadee UI"/>
            </a:endParaRPr>
          </a:p>
          <a:p>
            <a:pPr>
              <a:spcBef>
                <a:spcPts val="1400"/>
              </a:spcBef>
            </a:pPr>
            <a:r>
              <a:rPr lang="en-US" sz="6000" b="1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Full Stack Development</a:t>
            </a:r>
            <a:endParaRPr lang="th-TH" sz="6000" b="1" dirty="0">
              <a:solidFill>
                <a:srgbClr val="1A1A1A"/>
              </a:solidFill>
              <a:latin typeface="Leelawadee UI"/>
              <a:ea typeface="Leelawadee UI"/>
              <a:cs typeface="Leelawadee UI"/>
            </a:endParaRPr>
          </a:p>
          <a:p>
            <a:pPr>
              <a:spcBef>
                <a:spcPts val="1400"/>
              </a:spcBef>
            </a:pPr>
            <a:endParaRPr lang="th-TH" sz="2200" dirty="0">
              <a:solidFill>
                <a:srgbClr val="1A1A1A"/>
              </a:solidFill>
              <a:latin typeface="Leelawadee UI"/>
              <a:ea typeface="Leelawadee UI"/>
              <a:cs typeface="Leelawadee UI"/>
            </a:endParaRPr>
          </a:p>
          <a:p>
            <a:pPr>
              <a:spcBef>
                <a:spcPts val="1400"/>
              </a:spcBef>
            </a:pPr>
            <a:r>
              <a:rPr sz="22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</a:t>
            </a:r>
            <a:r>
              <a:rPr sz="22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สัปดาห์ที่</a:t>
            </a:r>
            <a:r>
              <a:rPr sz="22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6</a:t>
            </a:r>
          </a:p>
          <a:p>
            <a:pPr>
              <a:spcBef>
                <a:spcPts val="1400"/>
              </a:spcBef>
            </a:pPr>
            <a:r>
              <a:rPr sz="1800" b="0" dirty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</a:t>
            </a:r>
            <a:r>
              <a:rPr sz="1800" b="0" dirty="0" err="1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สิงหาคม</a:t>
            </a:r>
            <a:r>
              <a:rPr sz="1800" b="0" dirty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ocolate Chunk Pancake Stack">
            <a:extLst>
              <a:ext uri="{FF2B5EF4-FFF2-40B4-BE49-F238E27FC236}">
                <a16:creationId xmlns:a16="http://schemas.microsoft.com/office/drawing/2014/main" id="{D77D25C4-6CF4-6D8A-F88B-36AB27CB8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307" y="571499"/>
            <a:ext cx="4242003" cy="514696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9003516-EA5E-D51B-3328-56D8B34CC437}"/>
              </a:ext>
            </a:extLst>
          </p:cNvPr>
          <p:cNvSpPr/>
          <p:nvPr/>
        </p:nvSpPr>
        <p:spPr>
          <a:xfrm>
            <a:off x="6508274" y="471055"/>
            <a:ext cx="3482109" cy="204123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Front-end</a:t>
            </a:r>
            <a:endParaRPr lang="th-TH" sz="32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F65850-B175-9110-9A11-9050E3E9AC8D}"/>
              </a:ext>
            </a:extLst>
          </p:cNvPr>
          <p:cNvSpPr/>
          <p:nvPr/>
        </p:nvSpPr>
        <p:spPr>
          <a:xfrm>
            <a:off x="6508274" y="2766290"/>
            <a:ext cx="3482109" cy="3126509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Back-end</a:t>
            </a:r>
            <a:endParaRPr lang="th-TH" sz="3200" dirty="0">
              <a:solidFill>
                <a:schemeClr val="tx1"/>
              </a:solidFill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65B415CD-0E37-95AA-72AC-317989E39612}"/>
              </a:ext>
            </a:extLst>
          </p:cNvPr>
          <p:cNvSpPr/>
          <p:nvPr/>
        </p:nvSpPr>
        <p:spPr>
          <a:xfrm>
            <a:off x="10141526" y="471055"/>
            <a:ext cx="397164" cy="550487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2CD16-ADB5-A2AC-97ED-90C4E5286F86}"/>
              </a:ext>
            </a:extLst>
          </p:cNvPr>
          <p:cNvSpPr txBox="1"/>
          <p:nvPr/>
        </p:nvSpPr>
        <p:spPr>
          <a:xfrm>
            <a:off x="10815782" y="3121891"/>
            <a:ext cx="106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Full-stack</a:t>
            </a:r>
            <a:endParaRPr lang="th-TH" dirty="0"/>
          </a:p>
        </p:txBody>
      </p:sp>
    </p:spTree>
    <p:extLst>
      <p:ext uri="{BB962C8B-B14F-4D97-AF65-F5344CB8AC3E}">
        <p14:creationId xmlns:p14="http://schemas.microsoft.com/office/powerpoint/2010/main" val="348353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09:31  เครื่องมือพื้นฐาน — ทบทวน Git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LLM สร้างมาอย่างไร แล้วเราใช้ตอนไหน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🏭 ตอนสร้าง · ทำครั้งเดียว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อ่านข้อความมหาศาล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จำรูปแบบที่เจอบ่อย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ได้โมเดล 1 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ตอนใช้ · ทุกครั้งที่พิมพ์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ส่งข้อความไปให้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โมเดลเดาคำตอบ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ส่งกลับมาหาเรา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339949"/>
            <a:ext cx="10545775" cy="208666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"</a:t>
            </a:r>
            <a:r>
              <a:rPr sz="54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วันนี้อากาศ</a:t>
            </a:r>
            <a:r>
              <a:rPr sz="54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 ______"  </a:t>
            </a:r>
            <a:br>
              <a:rPr lang="th-TH" sz="54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</a:br>
            <a:r>
              <a:rPr sz="54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คำถัดไปคืออะไร</a:t>
            </a:r>
            <a:endParaRPr sz="5400" b="1" dirty="0">
              <a:solidFill>
                <a:srgbClr val="1F5FA8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707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ใครเคยเจอ AI ตอบมั่วแบบมั่นใจบ้าง — พิมพ์ ✋ ในแชท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ใครเป็นคนสร้าง LLM พวกนี้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บริษัท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แบบไหน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Anthropic 🇺🇸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⭐ คอร์สนี้ใช้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OpenAI 🇺🇸 · Google 🇺🇸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GPT · Gemini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Meta 🇺🇸 · Alibaba 🇨🇳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Llama · Qwen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🇨🇳 · Mistral 🇫🇷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· Mistral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9605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0799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19928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ทายก่อน: ประโยคยาวเท่ากัน ไทยหรืออังกฤษกินโทเคนมากกว่า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</a:t>
            </a:r>
            <a:r>
              <a:rPr sz="36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โต๊ะทำงานของ</a:t>
            </a:r>
            <a:r>
              <a:rPr sz="36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  <p:pic>
        <p:nvPicPr>
          <p:cNvPr id="11" name="Picture 10" descr="โต๊ะอาหาร รุ่นโคริ - สีธรรมชาติ">
            <a:extLst>
              <a:ext uri="{FF2B5EF4-FFF2-40B4-BE49-F238E27FC236}">
                <a16:creationId xmlns:a16="http://schemas.microsoft.com/office/drawing/2014/main" id="{D5B1C6A6-34E6-BCE7-857C-EFA0E7EE7D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544" y="2614353"/>
            <a:ext cx="4232478" cy="423247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5E0BB54-EAE3-DE21-23E2-C10903277980}"/>
              </a:ext>
            </a:extLst>
          </p:cNvPr>
          <p:cNvSpPr/>
          <p:nvPr/>
        </p:nvSpPr>
        <p:spPr>
          <a:xfrm>
            <a:off x="4563040" y="3579876"/>
            <a:ext cx="849745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dirty="0"/>
              <a:t>สวัสดี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9548DF-772F-4475-AA89-B82B22AA1A44}"/>
              </a:ext>
            </a:extLst>
          </p:cNvPr>
          <p:cNvSpPr/>
          <p:nvPr/>
        </p:nvSpPr>
        <p:spPr>
          <a:xfrm>
            <a:off x="5839954" y="3411174"/>
            <a:ext cx="849745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dirty="0"/>
              <a:t>วันอังคาร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4818EAB-3BB5-B73D-C777-7C7D757E4D16}"/>
              </a:ext>
            </a:extLst>
          </p:cNvPr>
          <p:cNvSpPr/>
          <p:nvPr/>
        </p:nvSpPr>
        <p:spPr>
          <a:xfrm>
            <a:off x="6460531" y="3648549"/>
            <a:ext cx="849745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dirty="0"/>
              <a:t>ทานอะไร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7251" y="281156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</a:t>
            </a:r>
            <a:r>
              <a:rPr sz="54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</a:t>
            </a:r>
            <a:r>
              <a:rPr sz="54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sz="54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ของชิ้นไหนตกก่อน</a:t>
            </a:r>
            <a:endParaRPr sz="5400" b="1" dirty="0">
              <a:solidFill>
                <a:srgbClr val="1F5FA8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  <p:pic>
        <p:nvPicPr>
          <p:cNvPr id="5" name="Picture 4" descr="โต๊ะอาหาร รุ่นโคริ - สีธรรมชาติ">
            <a:extLst>
              <a:ext uri="{FF2B5EF4-FFF2-40B4-BE49-F238E27FC236}">
                <a16:creationId xmlns:a16="http://schemas.microsoft.com/office/drawing/2014/main" id="{043FD3A9-F689-A085-931F-DDFCA3B24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5290" y="1990160"/>
            <a:ext cx="4232478" cy="423247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20B1C0-03BA-08C6-6D6D-2FE5E3A4B7E4}"/>
              </a:ext>
            </a:extLst>
          </p:cNvPr>
          <p:cNvSpPr/>
          <p:nvPr/>
        </p:nvSpPr>
        <p:spPr>
          <a:xfrm>
            <a:off x="7952786" y="2955683"/>
            <a:ext cx="849745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dirty="0"/>
              <a:t>สวัสดี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0B6826-EB7A-0394-D8A9-1E09A00ABDD8}"/>
              </a:ext>
            </a:extLst>
          </p:cNvPr>
          <p:cNvSpPr/>
          <p:nvPr/>
        </p:nvSpPr>
        <p:spPr>
          <a:xfrm>
            <a:off x="9229700" y="2786981"/>
            <a:ext cx="849745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dirty="0"/>
              <a:t>วันอังคาร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D64FEA-8A45-071C-F5F0-BA7E7E09E45F}"/>
              </a:ext>
            </a:extLst>
          </p:cNvPr>
          <p:cNvSpPr/>
          <p:nvPr/>
        </p:nvSpPr>
        <p:spPr>
          <a:xfrm>
            <a:off x="9850277" y="3024356"/>
            <a:ext cx="849745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dirty="0"/>
              <a:t>ทานอะไร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5ECDE5-DD0A-326E-062C-29EDAEE0FAEC}"/>
              </a:ext>
            </a:extLst>
          </p:cNvPr>
          <p:cNvSpPr/>
          <p:nvPr/>
        </p:nvSpPr>
        <p:spPr>
          <a:xfrm>
            <a:off x="8690243" y="3079721"/>
            <a:ext cx="849745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dirty="0"/>
              <a:t>โอเค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38D7DF-740E-8E16-9549-5AE295555BA3}"/>
              </a:ext>
            </a:extLst>
          </p:cNvPr>
          <p:cNvSpPr/>
          <p:nvPr/>
        </p:nvSpPr>
        <p:spPr>
          <a:xfrm>
            <a:off x="10539653" y="2782588"/>
            <a:ext cx="849745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h-TH" dirty="0"/>
              <a:t>ผิดแล้ว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Windows </a:t>
            </a:r>
          </a:p>
          <a:p>
            <a:pPr algn="l"/>
            <a:r>
              <a:rPr sz="36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</a:t>
            </a:r>
            <a:r>
              <a:rPr sz="36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 — </a:t>
            </a:r>
            <a:r>
              <a:rPr sz="36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ของชิ้นไหนตกก่อน</a:t>
            </a:r>
            <a:endParaRPr sz="3600" b="1" dirty="0">
              <a:solidFill>
                <a:srgbClr val="1F5FA8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3112" y="1841639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3112" y="2456827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3112" y="3072015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จู่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ๆ AI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ก็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"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ลืม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"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กติกาที่มันเคยทำถูกมาตลอด</a:t>
            </a:r>
            <a:endParaRPr sz="2600" b="0" dirty="0">
              <a:solidFill>
                <a:srgbClr val="1A1A1A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3112" y="3687203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ที่ผ่านมาคุณใช้ AI แบบไหน · พิมพ์ 1 หรือ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52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582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80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78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09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ข้อไหนที่หน้าเว็บแชทธรรมดาทำไม่ได้เลย — พิมพ์เลขข้อในแชท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เครื่องมือที่คนใช้กันตอนนี้</a:t>
            </a:r>
            <a:r>
              <a:rPr sz="36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 — </a:t>
            </a:r>
            <a:r>
              <a:rPr sz="36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เปลี่ยนได้</a:t>
            </a:r>
            <a:r>
              <a:rPr sz="36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sz="36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วิธีคิดไม่เปลี่ยน</a:t>
            </a:r>
            <a:endParaRPr sz="3600" b="1" dirty="0">
              <a:solidFill>
                <a:srgbClr val="1F5FA8"/>
              </a:solidFill>
              <a:latin typeface="Leelawadee UI"/>
              <a:ea typeface="Leelawadee UI"/>
              <a:cs typeface="Leelawadee UI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7316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เคยได้ยินหรือเคยใช้ตัวไหนบ้าง 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C01CA9C7-4E30-F2DA-CE5C-42D8921D3CB0}"/>
              </a:ext>
            </a:extLst>
          </p:cNvPr>
          <p:cNvSpPr/>
          <p:nvPr/>
        </p:nvSpPr>
        <p:spPr>
          <a:xfrm>
            <a:off x="6096000" y="1124712"/>
            <a:ext cx="2874264" cy="2770632"/>
          </a:xfrm>
          <a:prstGeom prst="ellips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Model</a:t>
            </a:r>
            <a:endParaRPr lang="th-TH" sz="40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C47B07-E31F-EFF1-AE32-51D865449B4E}"/>
              </a:ext>
            </a:extLst>
          </p:cNvPr>
          <p:cNvSpPr/>
          <p:nvPr/>
        </p:nvSpPr>
        <p:spPr>
          <a:xfrm>
            <a:off x="4172712" y="2510028"/>
            <a:ext cx="2874264" cy="2770632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Agent</a:t>
            </a:r>
            <a:endParaRPr lang="th-TH" sz="40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1FEC1A8-958F-71F7-801C-A81E51E8EAA4}"/>
              </a:ext>
            </a:extLst>
          </p:cNvPr>
          <p:cNvSpPr/>
          <p:nvPr/>
        </p:nvSpPr>
        <p:spPr>
          <a:xfrm>
            <a:off x="6300216" y="3202686"/>
            <a:ext cx="2874264" cy="2770632"/>
          </a:xfrm>
          <a:prstGeom prst="ellipse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You</a:t>
            </a:r>
            <a:endParaRPr lang="th-TH" sz="4000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FE1A6A-3612-0934-F2E8-12CBFF14406C}"/>
              </a:ext>
            </a:extLst>
          </p:cNvPr>
          <p:cNvSpPr txBox="1"/>
          <p:nvPr/>
        </p:nvSpPr>
        <p:spPr>
          <a:xfrm>
            <a:off x="822960" y="502920"/>
            <a:ext cx="105457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th-TH" sz="36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ประสานการทำงาน</a:t>
            </a:r>
            <a:endParaRPr sz="3600" b="1" dirty="0">
              <a:solidFill>
                <a:srgbClr val="1F5FA8"/>
              </a:solidFill>
              <a:latin typeface="Leelawadee UI"/>
              <a:ea typeface="Leelawadee UI"/>
              <a:cs typeface="Leelawadee UI"/>
            </a:endParaRPr>
          </a:p>
        </p:txBody>
      </p:sp>
    </p:spTree>
    <p:extLst>
      <p:ext uri="{BB962C8B-B14F-4D97-AF65-F5344CB8AC3E}">
        <p14:creationId xmlns:p14="http://schemas.microsoft.com/office/powerpoint/2010/main" val="2297810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3120777"/>
            <a:ext cx="10545775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จัดการความจำของ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  <p:extLst>
      <p:ext uri="{BB962C8B-B14F-4D97-AF65-F5344CB8AC3E}">
        <p14:creationId xmlns:p14="http://schemas.microsoft.com/office/powerpoint/2010/main" val="20299243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  <p:extLst>
      <p:ext uri="{BB962C8B-B14F-4D97-AF65-F5344CB8AC3E}">
        <p14:creationId xmlns:p14="http://schemas.microsoft.com/office/powerpoint/2010/main" val="5363486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709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  <p:extLst>
      <p:ext uri="{BB962C8B-B14F-4D97-AF65-F5344CB8AC3E}">
        <p14:creationId xmlns:p14="http://schemas.microsoft.com/office/powerpoint/2010/main" val="26425449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  <p:extLst>
      <p:ext uri="{BB962C8B-B14F-4D97-AF65-F5344CB8AC3E}">
        <p14:creationId xmlns:p14="http://schemas.microsoft.com/office/powerpoint/2010/main" val="7779755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  <p:extLst>
      <p:ext uri="{BB962C8B-B14F-4D97-AF65-F5344CB8AC3E}">
        <p14:creationId xmlns:p14="http://schemas.microsoft.com/office/powerpoint/2010/main" val="7534169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  <p:extLst>
      <p:ext uri="{BB962C8B-B14F-4D97-AF65-F5344CB8AC3E}">
        <p14:creationId xmlns:p14="http://schemas.microsoft.com/office/powerpoint/2010/main" val="5959843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  <p:extLst>
      <p:ext uri="{BB962C8B-B14F-4D97-AF65-F5344CB8AC3E}">
        <p14:creationId xmlns:p14="http://schemas.microsoft.com/office/powerpoint/2010/main" val="21053200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  <p:extLst>
      <p:ext uri="{BB962C8B-B14F-4D97-AF65-F5344CB8AC3E}">
        <p14:creationId xmlns:p14="http://schemas.microsoft.com/office/powerpoint/2010/main" val="2474388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67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</a:t>
            </a:r>
            <a:r>
              <a:rPr sz="36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คุณต้องได้อะไรกลับไป</a:t>
            </a:r>
            <a:endParaRPr sz="3600" b="1" dirty="0">
              <a:solidFill>
                <a:srgbClr val="1F5FA8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  <p:extLst>
      <p:ext uri="{BB962C8B-B14F-4D97-AF65-F5344CB8AC3E}">
        <p14:creationId xmlns:p14="http://schemas.microsoft.com/office/powerpoint/2010/main" val="18543981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3120777"/>
            <a:ext cx="10545775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1 — </a:t>
            </a:r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เครื่องมือพื้นฐาน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เครื่องมืออื่นที่เครื่องต้องมี — ให้ Claude ตรวจและติดตั้งให้ ไม่ต้องจำชื่อ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4261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64261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ชั้นที่ 2 — พิมพ์บอก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2666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ช่วยย้อนไฟล์ทั้งหมดกลับไปหมุดล่าสุดให้ผม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227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068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บอก Claude ให้ย้อน ใช้ได้เสมอ แม้ปิดหน้าต่างหรือพังข้ามวัน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บอก Claude ให้เริ่มเก็บประวัติ แล้วปักหมุดแรก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บอก Claude ว่า "ช่วยเปิดเว็บนี้ให้ผมดูในเบราว์เซอร์"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บอก Claude ให้เริ่มเก็บประวัติ + ปักหมุดแรก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Claude ว่า "ช่วยเปิดเว็บนี้ให้ผมดูในเบราว์เซอร์"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รู้ว่าเครื่องมือที่เครื่องต้องมี ให้ Claude ติดตั้งให้ได้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997698"/>
            <a:ext cx="10545775" cy="9540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2 — 🔁 </a:t>
            </a:r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วงจร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4 </a:t>
            </a:r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จังหวะ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57" y="3215259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  <p:sp>
        <p:nvSpPr>
          <p:cNvPr id="13" name="Left Arrow 9">
            <a:extLst>
              <a:ext uri="{FF2B5EF4-FFF2-40B4-BE49-F238E27FC236}">
                <a16:creationId xmlns:a16="http://schemas.microsoft.com/office/drawing/2014/main" id="{7FE9633D-2BCE-B457-07E8-85173DA607ED}"/>
              </a:ext>
            </a:extLst>
          </p:cNvPr>
          <p:cNvSpPr/>
          <p:nvPr/>
        </p:nvSpPr>
        <p:spPr>
          <a:xfrm>
            <a:off x="1520303" y="2724912"/>
            <a:ext cx="6210533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997698"/>
            <a:ext cx="10545775" cy="9540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</a:t>
            </a:r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พัก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10 </a:t>
            </a:r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นาที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— </a:t>
            </a:r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กลับมา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lang="th-TH"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00</a:t>
            </a:r>
            <a:r>
              <a:rPr lang="en-US"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:</a:t>
            </a:r>
            <a:r>
              <a:rPr lang="th-TH"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00</a:t>
            </a:r>
            <a:endParaRPr sz="4000" b="1" dirty="0">
              <a:solidFill>
                <a:srgbClr val="FFFFFF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997698"/>
            <a:ext cx="10545775" cy="9540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3 — 🗂️ </a:t>
            </a:r>
            <a:r>
              <a:rPr lang="th-TH"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การจัดการข้อมูล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  <p:pic>
        <p:nvPicPr>
          <p:cNvPr id="9" name="Picture 8" descr="Question mark on green pastel background">
            <a:extLst>
              <a:ext uri="{FF2B5EF4-FFF2-40B4-BE49-F238E27FC236}">
                <a16:creationId xmlns:a16="http://schemas.microsoft.com/office/drawing/2014/main" id="{D84BCC08-664A-E732-932D-4D25026DB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0045" y="2982722"/>
            <a:ext cx="4427481" cy="332061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ใครจัดไฟล์ในคอมพิวเตอร์ตัวเองเป็นบ้าง</a:t>
            </a:r>
            <a:endParaRPr sz="2600" b="0" dirty="0">
              <a:solidFill>
                <a:srgbClr val="1A1A1A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เคยสร้างโฟลเดอร์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แล้วมีโฟลเดอร์ย่อยข้างในไหม</a:t>
            </a:r>
            <a:endParaRPr sz="2600" b="0" dirty="0">
              <a:solidFill>
                <a:srgbClr val="1A1A1A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เคยตั้งชื่อไฟล์ให้รู้ว่าอะไรเป็นอะไรไหม</a:t>
            </a:r>
            <a:endParaRPr sz="2600" b="0" dirty="0">
              <a:solidFill>
                <a:srgbClr val="1A1A1A"/>
              </a:solidFill>
              <a:latin typeface="Leelawadee UI"/>
              <a:ea typeface="Leelawadee UI"/>
              <a:cs typeface="Leelawadee UI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1BE3FA7-0D70-4431-814F-D8C40576E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How to Organize Files on Your Computer: Tricks for Everyday Use — Auslogics  Blog">
            <a:extLst>
              <a:ext uri="{FF2B5EF4-FFF2-40B4-BE49-F238E27FC236}">
                <a16:creationId xmlns:a16="http://schemas.microsoft.com/office/drawing/2014/main" id="{F378BCA7-A67E-41A3-590A-E41560EE6D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20" r="1" b="1"/>
          <a:stretch>
            <a:fillRect/>
          </a:stretch>
        </p:blipFill>
        <p:spPr>
          <a:xfrm>
            <a:off x="321731" y="557189"/>
            <a:ext cx="5668684" cy="5743618"/>
          </a:xfrm>
          <a:prstGeom prst="rect">
            <a:avLst/>
          </a:prstGeom>
        </p:spPr>
      </p:pic>
      <p:pic>
        <p:nvPicPr>
          <p:cNvPr id="3" name="Picture 2" descr="File Structure : Broad Institute of MIT and Harvard">
            <a:extLst>
              <a:ext uri="{FF2B5EF4-FFF2-40B4-BE49-F238E27FC236}">
                <a16:creationId xmlns:a16="http://schemas.microsoft.com/office/drawing/2014/main" id="{F3B4E1CE-5525-964D-950C-414E6F30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69" r="726" b="-2"/>
          <a:stretch>
            <a:fillRect/>
          </a:stretch>
        </p:blipFill>
        <p:spPr>
          <a:xfrm>
            <a:off x="6195375" y="557189"/>
            <a:ext cx="5674893" cy="5743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7874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</a:t>
            </a:r>
            <a:r>
              <a:rPr sz="1800" b="0" dirty="0" err="1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reporterId</a:t>
            </a:r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800" b="0" dirty="0" err="1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reporterName</a:t>
            </a:r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 algn="l"/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</a:t>
            </a:r>
            <a:r>
              <a:rPr sz="1800" b="0" dirty="0" err="1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categoryId</a:t>
            </a:r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800" b="0" dirty="0" err="1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categoryName</a:t>
            </a:r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 algn="l"/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</a:t>
            </a:r>
            <a:r>
              <a:rPr sz="1800" b="0" dirty="0" err="1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createdAt</a:t>
            </a:r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}</a:t>
            </a:r>
          </a:p>
          <a:p>
            <a:pPr algn="l"/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</a:t>
            </a:r>
            <a:r>
              <a:rPr sz="1800" b="0" dirty="0" err="1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authorName</a:t>
            </a:r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, message, </a:t>
            </a:r>
            <a:r>
              <a:rPr sz="1800" b="0" dirty="0" err="1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createdAt</a:t>
            </a:r>
            <a:r>
              <a:rPr sz="1800" b="0" dirty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997698"/>
            <a:ext cx="10545775" cy="9540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4 — 🗄️ </a:t>
            </a:r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สร้าง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จริง</a:t>
            </a:r>
            <a:endParaRPr sz="4000" b="1" dirty="0">
              <a:solidFill>
                <a:srgbClr val="FFFFFF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827760"/>
              </p:ext>
            </p:extLst>
          </p:nvPr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th-TH" sz="1800" b="0" dirty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 dirty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dirty="0" err="1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  <a:r>
                        <a:rPr sz="1800" b="0" dirty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 ⭐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dirty="0" err="1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</a:t>
                      </a:r>
                      <a:r>
                        <a:rPr sz="1800" b="0" dirty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ใส่ข้อมูล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ใส่ข้อมูล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ใส่ข้อมูลตัวอย่างชุดแรก — ศัพท์เรียกว่า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997698"/>
            <a:ext cx="10545775" cy="9540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 err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</a:t>
            </a:r>
            <a:r>
              <a:rPr sz="4000" b="1" dirty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 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4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6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64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4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6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64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ใส่ใบลาตัวอย่าง 5 ใบ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11054</Words>
  <Application>Microsoft Office PowerPoint</Application>
  <PresentationFormat>Widescreen</PresentationFormat>
  <Paragraphs>676</Paragraphs>
  <Slides>90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6" baseType="lpstr">
      <vt:lpstr>Aptos</vt:lpstr>
      <vt:lpstr>Arial</vt:lpstr>
      <vt:lpstr>Calibri</vt:lpstr>
      <vt:lpstr>Consolas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Nacha Chondamrongkul</cp:lastModifiedBy>
  <cp:revision>21</cp:revision>
  <dcterms:created xsi:type="dcterms:W3CDTF">2013-01-27T09:14:16Z</dcterms:created>
  <dcterms:modified xsi:type="dcterms:W3CDTF">2026-08-29T01:14:25Z</dcterms:modified>
  <cp:category/>
</cp:coreProperties>
</file>